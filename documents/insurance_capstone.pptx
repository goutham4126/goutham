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738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534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1674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7.png"/><Relationship Id="rId4" Type="http://schemas.openxmlformats.org/officeDocument/2006/relationships/image" Target="../media/image19.png"/><Relationship Id="rId9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15"/>
          <p:cNvSpPr/>
          <p:nvPr/>
        </p:nvSpPr>
        <p:spPr>
          <a:xfrm>
            <a:off x="7406640" y="2456688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3931920" cy="5143500"/>
          </a:xfrm>
          <a:prstGeom prst="rect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-640080" y="3474720"/>
            <a:ext cx="2011680" cy="2011680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560320" y="91440"/>
            <a:ext cx="1645920" cy="1645920"/>
          </a:xfrm>
          <a:prstGeom prst="line">
            <a:avLst/>
          </a:prstGeom>
          <a:solidFill>
            <a:srgbClr val="7B2FBE">
              <a:alpha val="40000"/>
            </a:srgbClr>
          </a:solidFill>
          <a:ln w="12700">
            <a:solidFill>
              <a:srgbClr val="7B2FB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6400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" y="4352544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300" dirty="0" smtClean="0">
                <a:solidFill>
                  <a:srgbClr val="FFFFFF"/>
                </a:solidFill>
              </a:rPr>
              <a:t>BY GOUTHAM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7160" y="2724912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DISASTER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160020" y="331012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INSURANCE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37160" y="390411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200" dirty="0">
                <a:solidFill>
                  <a:srgbClr val="D7B8F3"/>
                </a:solidFill>
              </a:rPr>
              <a:t>PLATFORM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206240" y="59436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5D4E75"/>
                </a:solidFill>
              </a:rPr>
              <a:t>Intelligent Digital Insurance System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4206240" y="1170432"/>
            <a:ext cx="4572000" cy="22860"/>
          </a:xfrm>
          <a:prstGeom prst="rect">
            <a:avLst/>
          </a:prstGeom>
          <a:solidFill>
            <a:srgbClr val="C39BD3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9"/>
          <p:cNvSpPr/>
          <p:nvPr/>
        </p:nvSpPr>
        <p:spPr>
          <a:xfrm>
            <a:off x="4206240" y="1325880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/>
          <p:nvPr/>
        </p:nvSpPr>
        <p:spPr>
          <a:xfrm>
            <a:off x="4251960" y="132588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.NET 8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806440" y="1325880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5852160" y="132588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Angular 21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06640" y="1325880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7452360" y="132588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SQL Server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06240" y="1892808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4251960" y="189280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JWT Auth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806440" y="1892808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8"/>
          <p:cNvSpPr/>
          <p:nvPr/>
        </p:nvSpPr>
        <p:spPr>
          <a:xfrm>
            <a:off x="5852160" y="189280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SignalR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06640" y="1892808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20"/>
          <p:cNvSpPr/>
          <p:nvPr/>
        </p:nvSpPr>
        <p:spPr>
          <a:xfrm>
            <a:off x="7452360" y="1892808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QuestPDF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206240" y="2459736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Text 22"/>
          <p:cNvSpPr/>
          <p:nvPr/>
        </p:nvSpPr>
        <p:spPr>
          <a:xfrm>
            <a:off x="4251960" y="2459736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0A3C"/>
                </a:solidFill>
              </a:rPr>
              <a:t>Vercel Blob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206240" y="2880360"/>
            <a:ext cx="4663440" cy="1417320"/>
          </a:xfrm>
          <a:prstGeom prst="rect">
            <a:avLst/>
          </a:prstGeom>
          <a:solidFill>
            <a:srgbClr val="EDE7F6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4"/>
          <p:cNvSpPr/>
          <p:nvPr/>
        </p:nvSpPr>
        <p:spPr>
          <a:xfrm>
            <a:off x="4343400" y="29718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0A3C"/>
                </a:solidFill>
              </a:rPr>
              <a:t>Full-Stack Architecture Presentation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343400" y="3401568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5D4E75"/>
                </a:solidFill>
              </a:rPr>
              <a:t>Clean Architecture  •  REST </a:t>
            </a:r>
            <a:r>
              <a:rPr lang="en-US" sz="1200" dirty="0">
                <a:solidFill>
                  <a:srgbClr val="5D4E75"/>
                </a:solidFill>
              </a:rPr>
              <a:t>API  </a:t>
            </a:r>
            <a:r>
              <a:rPr lang="en-US" sz="1200" dirty="0" smtClean="0">
                <a:solidFill>
                  <a:srgbClr val="5D4E75"/>
                </a:solidFill>
              </a:rPr>
              <a:t>•  </a:t>
            </a:r>
            <a:r>
              <a:rPr lang="en-US" sz="1200" dirty="0">
                <a:solidFill>
                  <a:srgbClr val="5D4E75"/>
                </a:solidFill>
              </a:rPr>
              <a:t>PDF Generation </a:t>
            </a:r>
            <a:r>
              <a:rPr lang="en-US" sz="1200" dirty="0" smtClean="0">
                <a:solidFill>
                  <a:srgbClr val="5D4E75"/>
                </a:solidFill>
              </a:rPr>
              <a:t> </a:t>
            </a:r>
            <a:r>
              <a:rPr lang="en-US" sz="1200" dirty="0">
                <a:solidFill>
                  <a:srgbClr val="5D4E75"/>
                </a:solidFill>
              </a:rPr>
              <a:t>•  </a:t>
            </a:r>
            <a:r>
              <a:rPr lang="en-US" sz="1200" dirty="0" smtClean="0">
                <a:solidFill>
                  <a:srgbClr val="5D4E75"/>
                </a:solidFill>
              </a:rPr>
              <a:t>N8N</a:t>
            </a:r>
            <a:r>
              <a:rPr lang="en-US" sz="1200" dirty="0">
                <a:solidFill>
                  <a:srgbClr val="5D4E75"/>
                </a:solidFill>
              </a:rPr>
              <a:t>
Role-Based Access  •  Cloud Storage  </a:t>
            </a:r>
            <a:r>
              <a:rPr lang="en-US" sz="1200" dirty="0" smtClean="0">
                <a:solidFill>
                  <a:srgbClr val="5D4E75"/>
                </a:solidFill>
              </a:rPr>
              <a:t>• Video Verification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Casualty &amp; Disaster Insurance Platform</a:t>
            </a:r>
            <a:endParaRPr lang="en-US" sz="1000" dirty="0"/>
          </a:p>
        </p:txBody>
      </p:sp>
      <p:sp>
        <p:nvSpPr>
          <p:cNvPr id="31" name="Text 3"/>
          <p:cNvSpPr/>
          <p:nvPr/>
        </p:nvSpPr>
        <p:spPr>
          <a:xfrm>
            <a:off x="160020" y="2492787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FFFFFF"/>
                </a:solidFill>
              </a:rPr>
              <a:t>CASUALTY &amp;</a:t>
            </a:r>
            <a:endParaRPr lang="en-US" sz="1600" dirty="0"/>
          </a:p>
        </p:txBody>
      </p:sp>
      <p:sp>
        <p:nvSpPr>
          <p:cNvPr id="32" name="Shape 21"/>
          <p:cNvSpPr/>
          <p:nvPr/>
        </p:nvSpPr>
        <p:spPr>
          <a:xfrm>
            <a:off x="5806440" y="2459736"/>
            <a:ext cx="141732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7B2FBE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algn="ctr"/>
            <a:endParaRPr lang="en-US" sz="1100" dirty="0"/>
          </a:p>
        </p:txBody>
      </p:sp>
      <p:sp>
        <p:nvSpPr>
          <p:cNvPr id="33" name="Text 22"/>
          <p:cNvSpPr/>
          <p:nvPr/>
        </p:nvSpPr>
        <p:spPr>
          <a:xfrm>
            <a:off x="5875020" y="2459736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Agora SDK</a:t>
            </a:r>
            <a:endParaRPr lang="en-US" sz="1100" dirty="0"/>
          </a:p>
        </p:txBody>
      </p:sp>
      <p:sp>
        <p:nvSpPr>
          <p:cNvPr id="34" name="Text 22"/>
          <p:cNvSpPr/>
          <p:nvPr/>
        </p:nvSpPr>
        <p:spPr>
          <a:xfrm>
            <a:off x="7452360" y="2459736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N8N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Problem Statement — Traditional Insurance Challenges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Legacy insurance systems are plagued with inefficiency, opacity, and manual bottlenecks.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8600" y="1078992"/>
            <a:ext cx="2743200" cy="228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228600" y="1078992"/>
            <a:ext cx="2743200" cy="914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8" y="1426464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92124" y="1426464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Manual Claim Processing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06908" y="1833877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Claims processed by hand, causing delays of days or weeks. No automated validation or routing.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182112" y="1078992"/>
            <a:ext cx="2743200" cy="228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9"/>
          <p:cNvSpPr/>
          <p:nvPr/>
        </p:nvSpPr>
        <p:spPr>
          <a:xfrm>
            <a:off x="3182112" y="1078992"/>
            <a:ext cx="2743200" cy="914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0"/>
          <p:cNvSpPr/>
          <p:nvPr/>
        </p:nvSpPr>
        <p:spPr>
          <a:xfrm>
            <a:off x="4027932" y="1425057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Slow Policy Approvals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3319272" y="181051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Manual policy review and agent assignment leads to approval backlogs and poor customer experience.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135624" y="1078992"/>
            <a:ext cx="2743200" cy="228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6135624" y="1078992"/>
            <a:ext cx="2743200" cy="914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3076" y="1453896"/>
            <a:ext cx="502920" cy="5029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926052" y="142189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Lack of Transparency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6272784" y="1810512"/>
            <a:ext cx="24688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Customers have no visibility into claim status, payment schedules, or policy details in real time.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228600" y="3520440"/>
            <a:ext cx="4224528" cy="1143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17"/>
          <p:cNvSpPr/>
          <p:nvPr/>
        </p:nvSpPr>
        <p:spPr>
          <a:xfrm>
            <a:off x="228600" y="3520440"/>
            <a:ext cx="4224528" cy="914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234" y="3702265"/>
            <a:ext cx="331294" cy="33129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86968" y="3656897"/>
            <a:ext cx="33832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Poor Document Management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365760" y="4078224"/>
            <a:ext cx="3950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Physical or siloed document storage causes loss, duplication, and version conflicts.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4681728" y="3520440"/>
            <a:ext cx="4224528" cy="1143000"/>
          </a:xfrm>
          <a:prstGeom prst="rect">
            <a:avLst/>
          </a:prstGeom>
          <a:solidFill>
            <a:srgbClr val="FFFFFF"/>
          </a:solidFill>
          <a:ln w="1524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1"/>
          <p:cNvSpPr/>
          <p:nvPr/>
        </p:nvSpPr>
        <p:spPr>
          <a:xfrm>
            <a:off x="4681728" y="3520440"/>
            <a:ext cx="4224528" cy="9144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3689604"/>
            <a:ext cx="374904" cy="374904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376672" y="3653028"/>
            <a:ext cx="33832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0A3C"/>
                </a:solidFill>
              </a:rPr>
              <a:t>No Real-Time Notifications</a:t>
            </a:r>
            <a:endParaRPr lang="en-US" sz="1200" dirty="0"/>
          </a:p>
        </p:txBody>
      </p:sp>
      <p:sp>
        <p:nvSpPr>
          <p:cNvPr id="31" name="Text 23"/>
          <p:cNvSpPr/>
          <p:nvPr/>
        </p:nvSpPr>
        <p:spPr>
          <a:xfrm>
            <a:off x="4818888" y="4078224"/>
            <a:ext cx="3950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D4E75"/>
                </a:solidFill>
              </a:rPr>
              <a:t>No instant alerts for critical events — customers discover updates only through manual follow-up.</a:t>
            </a:r>
            <a:endParaRPr lang="en-US" sz="1100" dirty="0"/>
          </a:p>
        </p:txBody>
      </p:sp>
      <p:sp>
        <p:nvSpPr>
          <p:cNvPr id="32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25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Casualty &amp; Disaster Insurance Platform</a:t>
            </a:r>
            <a:endParaRPr lang="en-US" sz="10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6432" y="1421892"/>
            <a:ext cx="502920" cy="502920"/>
          </a:xfrm>
          <a:prstGeom prst="rect">
            <a:avLst/>
          </a:prstGeom>
        </p:spPr>
      </p:pic>
      <p:pic>
        <p:nvPicPr>
          <p:cNvPr id="34" name="Image 4" descr="preencoded.png">
            <a:extLst>
              <a:ext uri="{FF2B5EF4-FFF2-40B4-BE49-F238E27FC236}">
                <a16:creationId xmlns:a16="http://schemas.microsoft.com/office/drawing/2014/main" id="{4B544ADB-68C5-CE13-2C5E-1D32A2858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6016" y="1497769"/>
            <a:ext cx="415173" cy="4151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Solution Overview — Digital Insurance Ecosystem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A fully automated, scalable, and secure full-stack platform replacing manual insurance operations.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115568"/>
            <a:ext cx="28163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201168" y="1115568"/>
            <a:ext cx="2816352" cy="73152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" y="1344168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12761" y="1339596"/>
            <a:ext cx="2258568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0A3C"/>
                </a:solidFill>
              </a:rPr>
              <a:t>Automated Policy Management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310896" y="1691640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4E75"/>
                </a:solidFill>
              </a:rPr>
              <a:t>PolicyRequest→Agent approval→Purchase flow with snapshot, risk scoring, and installment scheduling.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3172968" y="1115568"/>
            <a:ext cx="28163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9"/>
          <p:cNvSpPr/>
          <p:nvPr/>
        </p:nvSpPr>
        <p:spPr>
          <a:xfrm>
            <a:off x="3172968" y="1115568"/>
            <a:ext cx="2816352" cy="73152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1339596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776472" y="1312692"/>
            <a:ext cx="21031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0A3C"/>
                </a:solidFill>
              </a:rPr>
              <a:t>Real-Time Notifications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3282696" y="1691640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4E75"/>
                </a:solidFill>
              </a:rPr>
              <a:t>SignalR-powered push notifications for claims, payments, and all policy lifecycle events.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144768" y="1115568"/>
            <a:ext cx="28163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6144768" y="1115568"/>
            <a:ext cx="2816352" cy="73152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2479" y="1316736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784144" y="1295405"/>
            <a:ext cx="21031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0A3C"/>
                </a:solidFill>
              </a:rPr>
              <a:t>Intelligent Claim Processing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6254496" y="1691640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D4E75"/>
                </a:solidFill>
              </a:rPr>
              <a:t>Least queue officer </a:t>
            </a:r>
            <a:r>
              <a:rPr lang="en-US" sz="1050" dirty="0">
                <a:solidFill>
                  <a:srgbClr val="5D4E75"/>
                </a:solidFill>
              </a:rPr>
              <a:t>assignment, coverage validation, approval/rejection workflow, instant payouts.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201168" y="2944368"/>
            <a:ext cx="28163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17"/>
          <p:cNvSpPr/>
          <p:nvPr/>
        </p:nvSpPr>
        <p:spPr>
          <a:xfrm>
            <a:off x="201168" y="2944368"/>
            <a:ext cx="2816352" cy="73152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3209544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82396" y="3177540"/>
            <a:ext cx="21031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0A3C"/>
                </a:solidFill>
              </a:rPr>
              <a:t>Secure Document Storage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310896" y="3520440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4E75"/>
                </a:solidFill>
              </a:rPr>
              <a:t>Vercel Blob cloud storage with SHA-256 document hashing for integrity verification.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72968" y="2944368"/>
            <a:ext cx="28163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1"/>
          <p:cNvSpPr/>
          <p:nvPr/>
        </p:nvSpPr>
        <p:spPr>
          <a:xfrm>
            <a:off x="3172968" y="2944368"/>
            <a:ext cx="2816352" cy="73152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83280" y="3154680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3963924" y="3186684"/>
            <a:ext cx="21031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0A3C"/>
                </a:solidFill>
              </a:rPr>
              <a:t>V</a:t>
            </a:r>
            <a:r>
              <a:rPr lang="en-US" sz="1150" b="1" dirty="0" smtClean="0">
                <a:solidFill>
                  <a:srgbClr val="1C0A3C"/>
                </a:solidFill>
              </a:rPr>
              <a:t>ideo Verification</a:t>
            </a:r>
            <a:endParaRPr lang="en-US" sz="1150" dirty="0"/>
          </a:p>
        </p:txBody>
      </p:sp>
      <p:sp>
        <p:nvSpPr>
          <p:cNvPr id="31" name="Text 23"/>
          <p:cNvSpPr/>
          <p:nvPr/>
        </p:nvSpPr>
        <p:spPr>
          <a:xfrm>
            <a:off x="3282696" y="3520440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D4E75"/>
                </a:solidFill>
              </a:rPr>
              <a:t>Agora based scheduled video verification before claim approval.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6144768" y="2944368"/>
            <a:ext cx="28163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Shape 25"/>
          <p:cNvSpPr/>
          <p:nvPr/>
        </p:nvSpPr>
        <p:spPr>
          <a:xfrm>
            <a:off x="6144768" y="2944368"/>
            <a:ext cx="2816352" cy="73152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5080" y="3145536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816852" y="3177540"/>
            <a:ext cx="21031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0A3C"/>
                </a:solidFill>
              </a:rPr>
              <a:t>Automated PDF Generation</a:t>
            </a:r>
            <a:endParaRPr lang="en-US" sz="1150" dirty="0"/>
          </a:p>
        </p:txBody>
      </p:sp>
      <p:sp>
        <p:nvSpPr>
          <p:cNvPr id="36" name="Text 27"/>
          <p:cNvSpPr/>
          <p:nvPr/>
        </p:nvSpPr>
        <p:spPr>
          <a:xfrm>
            <a:off x="6254496" y="3520440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D4E75"/>
                </a:solidFill>
              </a:rPr>
              <a:t>QuestPDF generates policy deeds, payment receipts, and claim settlement invoices automatically.</a:t>
            </a:r>
            <a:endParaRPr lang="en-US" sz="1050" dirty="0"/>
          </a:p>
        </p:txBody>
      </p:sp>
      <p:sp>
        <p:nvSpPr>
          <p:cNvPr id="37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29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Casualty &amp; Disaster Insurance Platform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System Architecture — Clean Architecture Pattern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Four-layer architecture with strict dependency inversion — outer layers depend on inner ones.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1051560"/>
            <a:ext cx="8595360" cy="73152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438912" y="1088136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Presentation Layer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38912" y="1408176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DDCCEE"/>
                </a:solidFill>
              </a:rPr>
              <a:t>•  Angular 21 SPA  •  .NET 8 Web API Controllers  •  JWT Auth Middleware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920240"/>
            <a:ext cx="7863840" cy="73152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804672" y="195681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Application Layer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04672" y="227685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DDCCEE"/>
                </a:solidFill>
              </a:rPr>
              <a:t>•  DTOs  •  Services  • Interfaces  •  Business Orchestration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005840" y="2788920"/>
            <a:ext cx="7132320" cy="731520"/>
          </a:xfrm>
          <a:prstGeom prst="rect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1170432" y="282549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Infrastructure Layer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70432" y="314553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DDCCEE"/>
                </a:solidFill>
              </a:rPr>
              <a:t>• Repositories  • Vercel Blob  •  </a:t>
            </a:r>
            <a:r>
              <a:rPr lang="en-US" sz="1000" dirty="0" smtClean="0">
                <a:solidFill>
                  <a:srgbClr val="DDCCEE"/>
                </a:solidFill>
              </a:rPr>
              <a:t>QuestPDF</a:t>
            </a:r>
            <a:r>
              <a:rPr lang="en-US" sz="1000" dirty="0">
                <a:solidFill>
                  <a:srgbClr val="DDCCEE"/>
                </a:solidFill>
              </a:rPr>
              <a:t> </a:t>
            </a:r>
            <a:r>
              <a:rPr lang="en-US" sz="1000" dirty="0" smtClean="0">
                <a:solidFill>
                  <a:srgbClr val="DDCCEE"/>
                </a:solidFill>
              </a:rPr>
              <a:t> •  Agora SDK </a:t>
            </a:r>
            <a:r>
              <a:rPr lang="en-US" sz="1000" dirty="0" smtClean="0">
                <a:solidFill>
                  <a:srgbClr val="DDCCEE"/>
                </a:solidFill>
              </a:rPr>
              <a:t>•  </a:t>
            </a:r>
            <a:r>
              <a:rPr lang="en-US" sz="1000" dirty="0">
                <a:solidFill>
                  <a:srgbClr val="DDCCEE"/>
                </a:solidFill>
              </a:rPr>
              <a:t>SignalR  •  SQL Server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1536192" y="369417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Domain Layer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536192" y="401421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DDCCEE"/>
                </a:solidFill>
              </a:rPr>
              <a:t>•  Entities  •  Enums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Casualty &amp; Disaster Insurance Platform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Technology Stack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Modern, cloud-native technologies chosen for scalability, security, and developer productivity.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078992"/>
            <a:ext cx="2084832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201168" y="1078992"/>
            <a:ext cx="2084832" cy="45720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292608" y="107899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Frontend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38328" y="1737360"/>
            <a:ext cx="146304" cy="146304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548640" y="1664208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Angular 21 (SPA)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38328" y="2249424"/>
            <a:ext cx="146304" cy="146304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/>
          <p:nvPr/>
        </p:nvSpPr>
        <p:spPr>
          <a:xfrm>
            <a:off x="548640" y="2176272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TypeScript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38328" y="2761488"/>
            <a:ext cx="146304" cy="146304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548640" y="2688336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1C0A3C"/>
                </a:solidFill>
              </a:rPr>
              <a:t>Tailwind CSS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2423160" y="1078992"/>
            <a:ext cx="2084832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8"/>
          <p:cNvSpPr/>
          <p:nvPr/>
        </p:nvSpPr>
        <p:spPr>
          <a:xfrm>
            <a:off x="2423160" y="1078992"/>
            <a:ext cx="2084832" cy="457200"/>
          </a:xfrm>
          <a:prstGeom prst="rect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19"/>
          <p:cNvSpPr/>
          <p:nvPr/>
        </p:nvSpPr>
        <p:spPr>
          <a:xfrm>
            <a:off x="2514600" y="107899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Backend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2560320" y="1737360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2770632" y="1664208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.NET 8 Web API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560320" y="2249424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3"/>
          <p:cNvSpPr/>
          <p:nvPr/>
        </p:nvSpPr>
        <p:spPr>
          <a:xfrm>
            <a:off x="2770632" y="2176272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Clean Architecture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2560320" y="2761488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5"/>
          <p:cNvSpPr/>
          <p:nvPr/>
        </p:nvSpPr>
        <p:spPr>
          <a:xfrm>
            <a:off x="2770632" y="2688336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Entity Framework Core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2560320" y="3273552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2770632" y="3200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JWT Bearer Auth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560320" y="3785616"/>
            <a:ext cx="146304" cy="146304"/>
          </a:xfrm>
          <a:prstGeom prst="line">
            <a:avLst/>
          </a:prstGeom>
          <a:solidFill>
            <a:srgbClr val="7B2DBE"/>
          </a:solidFill>
          <a:ln w="12700">
            <a:solidFill>
              <a:srgbClr val="7B2D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2770632" y="3712464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SignalR (WebSocket)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645152" y="1078992"/>
            <a:ext cx="2084832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1"/>
          <p:cNvSpPr/>
          <p:nvPr/>
        </p:nvSpPr>
        <p:spPr>
          <a:xfrm>
            <a:off x="4645152" y="1078992"/>
            <a:ext cx="2084832" cy="457200"/>
          </a:xfrm>
          <a:prstGeom prst="rect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2"/>
          <p:cNvSpPr/>
          <p:nvPr/>
        </p:nvSpPr>
        <p:spPr>
          <a:xfrm>
            <a:off x="4736592" y="107899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Database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782312" y="1737360"/>
            <a:ext cx="146304" cy="146304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4"/>
          <p:cNvSpPr/>
          <p:nvPr/>
        </p:nvSpPr>
        <p:spPr>
          <a:xfrm>
            <a:off x="4992624" y="1664208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SQL Server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4782312" y="2249424"/>
            <a:ext cx="146304" cy="146304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6"/>
          <p:cNvSpPr/>
          <p:nvPr/>
        </p:nvSpPr>
        <p:spPr>
          <a:xfrm>
            <a:off x="4992624" y="2176272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EF Core Migrations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4782312" y="2761488"/>
            <a:ext cx="146304" cy="146304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8"/>
          <p:cNvSpPr/>
          <p:nvPr/>
        </p:nvSpPr>
        <p:spPr>
          <a:xfrm>
            <a:off x="4992624" y="2688336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Soft Delete Pattern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4782312" y="3273552"/>
            <a:ext cx="146304" cy="146304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0"/>
          <p:cNvSpPr/>
          <p:nvPr/>
        </p:nvSpPr>
        <p:spPr>
          <a:xfrm>
            <a:off x="4992624" y="3200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GUID Primary Keys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4782312" y="3785616"/>
            <a:ext cx="146304" cy="146304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2"/>
          <p:cNvSpPr/>
          <p:nvPr/>
        </p:nvSpPr>
        <p:spPr>
          <a:xfrm>
            <a:off x="4992624" y="3712464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Relational Schema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6867144" y="1078992"/>
            <a:ext cx="2084832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6867144" y="1078992"/>
            <a:ext cx="2084832" cy="457200"/>
          </a:xfrm>
          <a:prstGeom prst="rect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6958584" y="107899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External Services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7004304" y="1737360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7"/>
          <p:cNvSpPr/>
          <p:nvPr/>
        </p:nvSpPr>
        <p:spPr>
          <a:xfrm>
            <a:off x="7214616" y="1664208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Vercel Blob Storage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7004304" y="2249424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49"/>
          <p:cNvSpPr/>
          <p:nvPr/>
        </p:nvSpPr>
        <p:spPr>
          <a:xfrm>
            <a:off x="7214616" y="2176272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C0A3C"/>
                </a:solidFill>
              </a:rPr>
              <a:t>Quest PDF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>
            <a:off x="7004304" y="2761488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1"/>
          <p:cNvSpPr/>
          <p:nvPr/>
        </p:nvSpPr>
        <p:spPr>
          <a:xfrm>
            <a:off x="7214616" y="2688336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/>
              <a:t>Agora SDK</a:t>
            </a:r>
            <a:endParaRPr lang="en-US" sz="1050" dirty="0"/>
          </a:p>
        </p:txBody>
      </p:sp>
      <p:sp>
        <p:nvSpPr>
          <p:cNvPr id="59" name="Shape 5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7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Casualty &amp; Disaster Insurance Platform</a:t>
            </a:r>
            <a:endParaRPr lang="en-US" sz="1000" dirty="0"/>
          </a:p>
        </p:txBody>
      </p:sp>
      <p:sp>
        <p:nvSpPr>
          <p:cNvPr id="55" name="Shape 50"/>
          <p:cNvSpPr/>
          <p:nvPr/>
        </p:nvSpPr>
        <p:spPr>
          <a:xfrm>
            <a:off x="7004697" y="3277970"/>
            <a:ext cx="146304" cy="146304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1"/>
          <p:cNvSpPr/>
          <p:nvPr/>
        </p:nvSpPr>
        <p:spPr>
          <a:xfrm>
            <a:off x="7210184" y="3200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smtClean="0"/>
              <a:t>N8N based </a:t>
            </a:r>
            <a:r>
              <a:rPr lang="en-US" sz="1050" dirty="0"/>
              <a:t>m</a:t>
            </a:r>
            <a:r>
              <a:rPr lang="en-US" sz="1050" dirty="0" smtClean="0"/>
              <a:t>ail service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Core Domain Model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9 core entities with relationships — PolicyRequest is central to the approval workflow.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4592" y="1078992"/>
            <a:ext cx="2148840" cy="30175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237744" y="1088136"/>
            <a:ext cx="20391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User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56032" y="1408176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Id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256032" y="1664208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FirstName / LastName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256032" y="192024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Email / Role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56032" y="2176272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GovernmentId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56032" y="2432304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IsDeleted (soft)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450592" y="1078992"/>
            <a:ext cx="21488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3"/>
          <p:cNvSpPr/>
          <p:nvPr/>
        </p:nvSpPr>
        <p:spPr>
          <a:xfrm>
            <a:off x="2450592" y="1078992"/>
            <a:ext cx="2148840" cy="30175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2523744" y="1088136"/>
            <a:ext cx="20391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Plan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2542032" y="1408176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Id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2542032" y="1664208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Name / Description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2542032" y="192024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PremiumAmount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2542032" y="2176272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CoverageAmount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2542032" y="2432304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DurationInMonths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736592" y="1078992"/>
            <a:ext cx="2148840" cy="301752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2"/>
          <p:cNvSpPr/>
          <p:nvPr/>
        </p:nvSpPr>
        <p:spPr>
          <a:xfrm>
            <a:off x="4809744" y="1088136"/>
            <a:ext cx="20391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PolicyRequest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4828032" y="1408176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Id, UserId, PlanId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4828032" y="1664208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RiskScore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828032" y="192024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PanDocumentUrl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828032" y="2176272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AddressProofUrl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4828032" y="2432304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Status (Pending/Approved/Rejected)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7022592" y="1078992"/>
            <a:ext cx="1956816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29"/>
          <p:cNvSpPr/>
          <p:nvPr/>
        </p:nvSpPr>
        <p:spPr>
          <a:xfrm>
            <a:off x="7022592" y="1078992"/>
            <a:ext cx="1956816" cy="30175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0"/>
          <p:cNvSpPr/>
          <p:nvPr/>
        </p:nvSpPr>
        <p:spPr>
          <a:xfrm>
            <a:off x="7095744" y="1088136"/>
            <a:ext cx="1847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Policy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7114032" y="1408176"/>
            <a:ext cx="18196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Id, UserId, PlanId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114032" y="1664208"/>
            <a:ext cx="18196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PlanBasePremium 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7114032" y="1920240"/>
            <a:ext cx="18196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PlanBaseCoverage 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114032" y="2176272"/>
            <a:ext cx="18196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CoverageAmount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7114032" y="2432304"/>
            <a:ext cx="18196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PaymentFrequency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164592" y="2999232"/>
            <a:ext cx="21488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0" name="Shape 37"/>
          <p:cNvSpPr/>
          <p:nvPr/>
        </p:nvSpPr>
        <p:spPr>
          <a:xfrm>
            <a:off x="164592" y="2999232"/>
            <a:ext cx="2148840" cy="30175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8"/>
          <p:cNvSpPr/>
          <p:nvPr/>
        </p:nvSpPr>
        <p:spPr>
          <a:xfrm>
            <a:off x="237744" y="3008376"/>
            <a:ext cx="20391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PolicyPayment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256032" y="3328416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Id, PolicyId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256032" y="3584448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Amount / DueDate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256032" y="384048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PaidDate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256032" y="4096512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Status (Pending/Paid/Overdue)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2450592" y="2999232"/>
            <a:ext cx="2148840" cy="30175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2523744" y="3008376"/>
            <a:ext cx="20391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Claim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2542032" y="3328416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Id, PolicyId, UserId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2542032" y="3584448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ClaimOfficerId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2542032" y="384048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ClaimAmount / ApprovedAmount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2542032" y="4096512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DocumentUrl + Hash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2542032" y="4352544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Status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4736592" y="2999232"/>
            <a:ext cx="19202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5" name="Shape 52"/>
          <p:cNvSpPr/>
          <p:nvPr/>
        </p:nvSpPr>
        <p:spPr>
          <a:xfrm>
            <a:off x="4736592" y="2999232"/>
            <a:ext cx="1920240" cy="30175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3"/>
          <p:cNvSpPr/>
          <p:nvPr/>
        </p:nvSpPr>
        <p:spPr>
          <a:xfrm>
            <a:off x="4809744" y="3008376"/>
            <a:ext cx="1810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ClaimPayment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4828032" y="3328416"/>
            <a:ext cx="1783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Id, ClaimId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4828032" y="3584448"/>
            <a:ext cx="1783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AmountPaid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4828032" y="3840480"/>
            <a:ext cx="1783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PaidAt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6793992" y="2999232"/>
            <a:ext cx="2185416" cy="30175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59"/>
          <p:cNvSpPr/>
          <p:nvPr/>
        </p:nvSpPr>
        <p:spPr>
          <a:xfrm>
            <a:off x="6867144" y="3008376"/>
            <a:ext cx="2075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Invoice</a:t>
            </a:r>
            <a:endParaRPr lang="en-US" sz="1050" dirty="0"/>
          </a:p>
        </p:txBody>
      </p:sp>
      <p:sp>
        <p:nvSpPr>
          <p:cNvPr id="63" name="Text 60"/>
          <p:cNvSpPr/>
          <p:nvPr/>
        </p:nvSpPr>
        <p:spPr>
          <a:xfrm>
            <a:off x="6885432" y="3328416"/>
            <a:ext cx="20482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Id, UserId, ReferenceId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6885432" y="3584448"/>
            <a:ext cx="20482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Type (Policy/Claim/Pmt)</a:t>
            </a:r>
            <a:endParaRPr lang="en-US" sz="850" dirty="0"/>
          </a:p>
        </p:txBody>
      </p:sp>
      <p:sp>
        <p:nvSpPr>
          <p:cNvPr id="65" name="Text 62"/>
          <p:cNvSpPr/>
          <p:nvPr/>
        </p:nvSpPr>
        <p:spPr>
          <a:xfrm>
            <a:off x="6885432" y="3840480"/>
            <a:ext cx="20482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FileUrl (Vercel Blob)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256032" y="4809744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Id (auto int)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256032" y="5065776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UserId</a:t>
            </a:r>
            <a:endParaRPr lang="en-US" sz="850" dirty="0"/>
          </a:p>
        </p:txBody>
      </p:sp>
      <p:sp>
        <p:nvSpPr>
          <p:cNvPr id="71" name="Text 68"/>
          <p:cNvSpPr/>
          <p:nvPr/>
        </p:nvSpPr>
        <p:spPr>
          <a:xfrm>
            <a:off x="256032" y="5321808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Title / Message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256032" y="557784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0A3C"/>
                </a:solidFill>
              </a:rPr>
              <a:t>IsRead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Text 72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Casualty &amp; Disaster Insurance Platform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73152" cy="5070348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73152" y="73152"/>
            <a:ext cx="9070848" cy="777240"/>
          </a:xfrm>
          <a:prstGeom prst="rect">
            <a:avLst/>
          </a:prstGeom>
          <a:solidFill>
            <a:srgbClr val="F8F5FF"/>
          </a:solidFill>
          <a:ln w="12700">
            <a:solidFill>
              <a:srgbClr val="F8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828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914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1B4B"/>
                </a:solidFill>
              </a:rPr>
              <a:t>Role-Based Access Control — 4 System Roles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82880" y="12344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6C3FC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6"/>
          <p:cNvSpPr/>
          <p:nvPr/>
        </p:nvSpPr>
        <p:spPr>
          <a:xfrm>
            <a:off x="182880" y="1234440"/>
            <a:ext cx="2011680" cy="1005840"/>
          </a:xfrm>
          <a:prstGeom prst="rect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1389888"/>
            <a:ext cx="393192" cy="3931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" y="18928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Customer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292608" y="2313432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0"/>
          <p:cNvSpPr/>
          <p:nvPr/>
        </p:nvSpPr>
        <p:spPr>
          <a:xfrm>
            <a:off x="548640" y="216712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Send policy requests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92608" y="2798064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2"/>
          <p:cNvSpPr/>
          <p:nvPr/>
        </p:nvSpPr>
        <p:spPr>
          <a:xfrm>
            <a:off x="548640" y="26563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Pay premium installments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292608" y="3282696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4"/>
          <p:cNvSpPr/>
          <p:nvPr/>
        </p:nvSpPr>
        <p:spPr>
          <a:xfrm>
            <a:off x="557784" y="3145536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Submit insurance claims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292608" y="3767328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6"/>
          <p:cNvSpPr/>
          <p:nvPr/>
        </p:nvSpPr>
        <p:spPr>
          <a:xfrm>
            <a:off x="548640" y="3621024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View own invoices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292608" y="4251960"/>
            <a:ext cx="128016" cy="128016"/>
          </a:xfrm>
          <a:prstGeom prst="ellipse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18"/>
          <p:cNvSpPr/>
          <p:nvPr/>
        </p:nvSpPr>
        <p:spPr>
          <a:xfrm>
            <a:off x="548640" y="4107647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Receive notifications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2377440" y="12344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7E57C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0"/>
          <p:cNvSpPr/>
          <p:nvPr/>
        </p:nvSpPr>
        <p:spPr>
          <a:xfrm>
            <a:off x="2377440" y="1234440"/>
            <a:ext cx="2011680" cy="1005840"/>
          </a:xfrm>
          <a:prstGeom prst="rect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1256" y="1389888"/>
            <a:ext cx="393192" cy="393192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2377440" y="18928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Agent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2487168" y="2313432"/>
            <a:ext cx="128016" cy="128016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4"/>
          <p:cNvSpPr/>
          <p:nvPr/>
        </p:nvSpPr>
        <p:spPr>
          <a:xfrm>
            <a:off x="2743200" y="2172009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Accept/Reject policy requests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2487168" y="2798064"/>
            <a:ext cx="128016" cy="128016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6"/>
          <p:cNvSpPr/>
          <p:nvPr/>
        </p:nvSpPr>
        <p:spPr>
          <a:xfrm>
            <a:off x="2743200" y="265633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Monitor payment status</a:t>
            </a:r>
            <a:endParaRPr lang="en-US" sz="950" dirty="0"/>
          </a:p>
        </p:txBody>
      </p:sp>
      <p:sp>
        <p:nvSpPr>
          <p:cNvPr id="32" name="Shape 27"/>
          <p:cNvSpPr/>
          <p:nvPr/>
        </p:nvSpPr>
        <p:spPr>
          <a:xfrm>
            <a:off x="2487168" y="3282696"/>
            <a:ext cx="128016" cy="128016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28"/>
          <p:cNvSpPr/>
          <p:nvPr/>
        </p:nvSpPr>
        <p:spPr>
          <a:xfrm>
            <a:off x="2752344" y="3163824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Auto-assigned on request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2487168" y="3767328"/>
            <a:ext cx="128016" cy="128016"/>
          </a:xfrm>
          <a:prstGeom prst="ellipse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0"/>
          <p:cNvSpPr/>
          <p:nvPr/>
        </p:nvSpPr>
        <p:spPr>
          <a:xfrm>
            <a:off x="2743200" y="363016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Least-busy algorithm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4572000" y="12344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2894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Shape 32"/>
          <p:cNvSpPr/>
          <p:nvPr/>
        </p:nvSpPr>
        <p:spPr>
          <a:xfrm>
            <a:off x="4572000" y="1234440"/>
            <a:ext cx="2011680" cy="1005840"/>
          </a:xfrm>
          <a:prstGeom prst="rect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5816" y="1389888"/>
            <a:ext cx="393192" cy="393192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4572000" y="18928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Claim Officer</a:t>
            </a:r>
            <a:endParaRPr lang="en-US" sz="1300" dirty="0"/>
          </a:p>
        </p:txBody>
      </p:sp>
      <p:sp>
        <p:nvSpPr>
          <p:cNvPr id="41" name="Shape 35"/>
          <p:cNvSpPr/>
          <p:nvPr/>
        </p:nvSpPr>
        <p:spPr>
          <a:xfrm>
            <a:off x="4681728" y="2313432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6"/>
          <p:cNvSpPr/>
          <p:nvPr/>
        </p:nvSpPr>
        <p:spPr>
          <a:xfrm>
            <a:off x="4919472" y="217167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smtClean="0">
                <a:solidFill>
                  <a:srgbClr val="1E1B4B"/>
                </a:solidFill>
              </a:rPr>
              <a:t>Verify </a:t>
            </a:r>
            <a:r>
              <a:rPr lang="en-US" sz="950" dirty="0">
                <a:solidFill>
                  <a:srgbClr val="1E1B4B"/>
                </a:solidFill>
              </a:rPr>
              <a:t>assigned claims</a:t>
            </a:r>
            <a:endParaRPr lang="en-US" sz="950" dirty="0"/>
          </a:p>
        </p:txBody>
      </p:sp>
      <p:sp>
        <p:nvSpPr>
          <p:cNvPr id="43" name="Shape 37"/>
          <p:cNvSpPr/>
          <p:nvPr/>
        </p:nvSpPr>
        <p:spPr>
          <a:xfrm>
            <a:off x="4681728" y="2798064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38"/>
          <p:cNvSpPr/>
          <p:nvPr/>
        </p:nvSpPr>
        <p:spPr>
          <a:xfrm>
            <a:off x="4919472" y="264718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Approve with payout amount</a:t>
            </a:r>
            <a:endParaRPr lang="en-US" sz="950" dirty="0"/>
          </a:p>
        </p:txBody>
      </p:sp>
      <p:sp>
        <p:nvSpPr>
          <p:cNvPr id="45" name="Shape 39"/>
          <p:cNvSpPr/>
          <p:nvPr/>
        </p:nvSpPr>
        <p:spPr>
          <a:xfrm>
            <a:off x="4681728" y="3282696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0"/>
          <p:cNvSpPr/>
          <p:nvPr/>
        </p:nvSpPr>
        <p:spPr>
          <a:xfrm>
            <a:off x="4919472" y="3145536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Reject claims</a:t>
            </a:r>
            <a:endParaRPr lang="en-US" sz="950" dirty="0"/>
          </a:p>
        </p:txBody>
      </p:sp>
      <p:sp>
        <p:nvSpPr>
          <p:cNvPr id="47" name="Shape 41"/>
          <p:cNvSpPr/>
          <p:nvPr/>
        </p:nvSpPr>
        <p:spPr>
          <a:xfrm>
            <a:off x="4681728" y="3767328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2"/>
          <p:cNvSpPr/>
          <p:nvPr/>
        </p:nvSpPr>
        <p:spPr>
          <a:xfrm>
            <a:off x="4919472" y="3621024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Auto-assigned on claim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4681728" y="4251960"/>
            <a:ext cx="128016" cy="128016"/>
          </a:xfrm>
          <a:prstGeom prst="ellipse">
            <a:avLst/>
          </a:prstGeom>
          <a:solidFill>
            <a:srgbClr val="4A2894"/>
          </a:solidFill>
          <a:ln w="12700">
            <a:solidFill>
              <a:srgbClr val="4A2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4"/>
          <p:cNvSpPr/>
          <p:nvPr/>
        </p:nvSpPr>
        <p:spPr>
          <a:xfrm>
            <a:off x="4919472" y="4119372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Generate status invoices</a:t>
            </a:r>
            <a:endParaRPr lang="en-US" sz="950" dirty="0"/>
          </a:p>
        </p:txBody>
      </p:sp>
      <p:sp>
        <p:nvSpPr>
          <p:cNvPr id="51" name="Shape 45"/>
          <p:cNvSpPr/>
          <p:nvPr/>
        </p:nvSpPr>
        <p:spPr>
          <a:xfrm>
            <a:off x="6766560" y="1234440"/>
            <a:ext cx="20116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1B4B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2" name="Shape 46"/>
          <p:cNvSpPr/>
          <p:nvPr/>
        </p:nvSpPr>
        <p:spPr>
          <a:xfrm>
            <a:off x="6766560" y="1234440"/>
            <a:ext cx="2011680" cy="100584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80376" y="1389888"/>
            <a:ext cx="393192" cy="393192"/>
          </a:xfrm>
          <a:prstGeom prst="rect">
            <a:avLst/>
          </a:prstGeom>
        </p:spPr>
      </p:pic>
      <p:sp>
        <p:nvSpPr>
          <p:cNvPr id="55" name="Text 48"/>
          <p:cNvSpPr/>
          <p:nvPr/>
        </p:nvSpPr>
        <p:spPr>
          <a:xfrm>
            <a:off x="6766560" y="18928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Admin</a:t>
            </a:r>
            <a:endParaRPr lang="en-US" sz="1300" dirty="0"/>
          </a:p>
        </p:txBody>
      </p:sp>
      <p:sp>
        <p:nvSpPr>
          <p:cNvPr id="56" name="Shape 49"/>
          <p:cNvSpPr/>
          <p:nvPr/>
        </p:nvSpPr>
        <p:spPr>
          <a:xfrm>
            <a:off x="6876288" y="2313432"/>
            <a:ext cx="128016" cy="128016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0"/>
          <p:cNvSpPr/>
          <p:nvPr/>
        </p:nvSpPr>
        <p:spPr>
          <a:xfrm>
            <a:off x="7141464" y="2180844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Manage all users &amp; roles</a:t>
            </a:r>
            <a:endParaRPr lang="en-US" sz="950" dirty="0"/>
          </a:p>
        </p:txBody>
      </p:sp>
      <p:sp>
        <p:nvSpPr>
          <p:cNvPr id="58" name="Shape 51"/>
          <p:cNvSpPr/>
          <p:nvPr/>
        </p:nvSpPr>
        <p:spPr>
          <a:xfrm>
            <a:off x="6876288" y="2798064"/>
            <a:ext cx="128016" cy="128016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2"/>
          <p:cNvSpPr/>
          <p:nvPr/>
        </p:nvSpPr>
        <p:spPr>
          <a:xfrm>
            <a:off x="7141464" y="264718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Create/update/deactivate plans</a:t>
            </a:r>
            <a:endParaRPr lang="en-US" sz="950" dirty="0"/>
          </a:p>
        </p:txBody>
      </p:sp>
      <p:sp>
        <p:nvSpPr>
          <p:cNvPr id="60" name="Shape 53"/>
          <p:cNvSpPr/>
          <p:nvPr/>
        </p:nvSpPr>
        <p:spPr>
          <a:xfrm>
            <a:off x="6876288" y="3282696"/>
            <a:ext cx="128016" cy="128016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4"/>
          <p:cNvSpPr/>
          <p:nvPr/>
        </p:nvSpPr>
        <p:spPr>
          <a:xfrm>
            <a:off x="7141464" y="3140038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View all policies &amp; claims</a:t>
            </a:r>
            <a:endParaRPr lang="en-US" sz="950" dirty="0"/>
          </a:p>
        </p:txBody>
      </p:sp>
      <p:sp>
        <p:nvSpPr>
          <p:cNvPr id="62" name="Shape 55"/>
          <p:cNvSpPr/>
          <p:nvPr/>
        </p:nvSpPr>
        <p:spPr>
          <a:xfrm>
            <a:off x="6876288" y="3767328"/>
            <a:ext cx="128016" cy="128016"/>
          </a:xfrm>
          <a:prstGeom prst="ellipse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56"/>
          <p:cNvSpPr/>
          <p:nvPr/>
        </p:nvSpPr>
        <p:spPr>
          <a:xfrm>
            <a:off x="7148588" y="3627419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1B4B"/>
                </a:solidFill>
              </a:rPr>
              <a:t>Full system oversight</a:t>
            </a:r>
            <a:endParaRPr lang="en-US" sz="950" dirty="0"/>
          </a:p>
        </p:txBody>
      </p:sp>
      <p:sp>
        <p:nvSpPr>
          <p:cNvPr id="64" name="Shape 57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6C3FC5"/>
          </a:solidFill>
          <a:ln w="1270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5154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42"/>
          <p:cNvSpPr/>
          <p:nvPr/>
        </p:nvSpPr>
        <p:spPr>
          <a:xfrm flipH="1">
            <a:off x="4471416" y="3526761"/>
            <a:ext cx="201168" cy="234546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2"/>
          <p:cNvSpPr/>
          <p:nvPr/>
        </p:nvSpPr>
        <p:spPr>
          <a:xfrm flipH="1">
            <a:off x="2264234" y="3526761"/>
            <a:ext cx="201168" cy="234546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Policy Request Workflow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Customer submits request → Agent reviews → Approval unlocks policy purchase.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078992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438912" cy="438912"/>
          </a:xfrm>
          <a:prstGeom prst="lin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274320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86384" y="118872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Customer Submits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92608" y="1691640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Selects Plan, duration, frequency. Uploads PAN + Address Proof docs.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258568" y="1536192"/>
            <a:ext cx="173736" cy="1554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2414016" y="1078992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1"/>
          <p:cNvSpPr/>
          <p:nvPr/>
        </p:nvSpPr>
        <p:spPr>
          <a:xfrm>
            <a:off x="2487168" y="1188720"/>
            <a:ext cx="438912" cy="438912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2487168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999232" y="118872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SHA-256 Hash &amp; Blob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505456" y="1691640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Backend hashes docs, uploads to Vercel Blob, stores URL in DB.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471416" y="1536192"/>
            <a:ext cx="173736" cy="1554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6"/>
          <p:cNvSpPr/>
          <p:nvPr/>
        </p:nvSpPr>
        <p:spPr>
          <a:xfrm>
            <a:off x="4626864" y="1078992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7"/>
          <p:cNvSpPr/>
          <p:nvPr/>
        </p:nvSpPr>
        <p:spPr>
          <a:xfrm>
            <a:off x="4700016" y="1188720"/>
            <a:ext cx="438912" cy="438912"/>
          </a:xfrm>
          <a:prstGeom prst="lin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8"/>
          <p:cNvSpPr/>
          <p:nvPr/>
        </p:nvSpPr>
        <p:spPr>
          <a:xfrm>
            <a:off x="4700016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212080" y="118872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Risk Score Calc.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718304" y="1691640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System computes Risk Score using frequency, plan, duration etc.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684264" y="1536192"/>
            <a:ext cx="155448" cy="13258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2"/>
          <p:cNvSpPr/>
          <p:nvPr/>
        </p:nvSpPr>
        <p:spPr>
          <a:xfrm>
            <a:off x="6839712" y="1078992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3"/>
          <p:cNvSpPr/>
          <p:nvPr/>
        </p:nvSpPr>
        <p:spPr>
          <a:xfrm>
            <a:off x="6912864" y="1188720"/>
            <a:ext cx="438912" cy="438912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4"/>
          <p:cNvSpPr/>
          <p:nvPr/>
        </p:nvSpPr>
        <p:spPr>
          <a:xfrm>
            <a:off x="6912864" y="1188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7424928" y="1188720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Agent Assignment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931152" y="1691640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Request randomly assigned to an active Agent for underwriting.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201168" y="2971800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Shape 28"/>
          <p:cNvSpPr/>
          <p:nvPr/>
        </p:nvSpPr>
        <p:spPr>
          <a:xfrm>
            <a:off x="274320" y="3081528"/>
            <a:ext cx="438912" cy="438912"/>
          </a:xfrm>
          <a:prstGeom prst="line">
            <a:avLst/>
          </a:prstGeom>
          <a:solidFill>
            <a:srgbClr val="5D3A8A"/>
          </a:solidFill>
          <a:ln w="12700">
            <a:solidFill>
              <a:srgbClr val="5D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274320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786384" y="308152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Agent Reviews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292608" y="3584448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Agent views KYC docs via Vercel URLs, evaluates risk score.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414016" y="2971800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Shape 33"/>
          <p:cNvSpPr/>
          <p:nvPr/>
        </p:nvSpPr>
        <p:spPr>
          <a:xfrm>
            <a:off x="2487168" y="3081528"/>
            <a:ext cx="438912" cy="438912"/>
          </a:xfrm>
          <a:prstGeom prst="line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4"/>
          <p:cNvSpPr/>
          <p:nvPr/>
        </p:nvSpPr>
        <p:spPr>
          <a:xfrm>
            <a:off x="2487168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2999232" y="308152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Approve / Reject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2505456" y="3584448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Agent approves or rejects. Customer is notified via SignalR.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626864" y="2971800"/>
            <a:ext cx="2057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1" name="Shape 38"/>
          <p:cNvSpPr/>
          <p:nvPr/>
        </p:nvSpPr>
        <p:spPr>
          <a:xfrm>
            <a:off x="4700016" y="3081528"/>
            <a:ext cx="438912" cy="438912"/>
          </a:xfrm>
          <a:prstGeom prst="line">
            <a:avLst/>
          </a:prstGeom>
          <a:solidFill>
            <a:srgbClr val="2E0F4E"/>
          </a:solidFill>
          <a:ln w="12700">
            <a:solidFill>
              <a:srgbClr val="2E0F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9"/>
          <p:cNvSpPr/>
          <p:nvPr/>
        </p:nvSpPr>
        <p:spPr>
          <a:xfrm>
            <a:off x="4700016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5212080" y="308152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0A3C"/>
                </a:solidFill>
              </a:rPr>
              <a:t>Purchase Enabled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4718304" y="3584448"/>
            <a:ext cx="1874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Approved request unlocks Policy Purchase for the customer with a buy now button.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 flipH="1">
            <a:off x="0" y="3491634"/>
            <a:ext cx="201168" cy="234546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7" name="Text 44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Casualty &amp; Disaster Insurance Platform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Policy Purchase Workflow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Once request is approved, customer finalizes purchase triggering snapshot, schedules, and invoices.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310896" y="1243584"/>
            <a:ext cx="402336" cy="402336"/>
          </a:xfrm>
          <a:prstGeom prst="lin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3108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55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POST /policies/purchase/{requestId}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108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Customer calls purchase endpoint with approved request ID.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1729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3282696" y="1243584"/>
            <a:ext cx="402336" cy="402336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32826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7673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Plan Values Snapshotted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2826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PlanBasePremiumAmount &amp; PlanBaseCoverageAmount copied into Policy — future plan edits don't affect this contract.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447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5"/>
          <p:cNvSpPr/>
          <p:nvPr/>
        </p:nvSpPr>
        <p:spPr>
          <a:xfrm>
            <a:off x="6254496" y="1243584"/>
            <a:ext cx="402336" cy="402336"/>
          </a:xfrm>
          <a:prstGeom prst="lin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62544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391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Coverage Calculation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2544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CoverageAmount = BaseCoverage × (chosenMonths / planDefaultMonths).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011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310896" y="3118104"/>
            <a:ext cx="402336" cy="402336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108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955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Payment Schedule Created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108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PolicyPayment entities spawned for full term (Monthly / Quarterly / Yearly intervals).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1729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3282696" y="3118104"/>
            <a:ext cx="402336" cy="402336"/>
          </a:xfrm>
          <a:prstGeom prst="line">
            <a:avLst/>
          </a:prstGeom>
          <a:solidFill>
            <a:srgbClr val="5D3A8A"/>
          </a:solidFill>
          <a:ln w="12700">
            <a:solidFill>
              <a:srgbClr val="5D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32826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37673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First Payment Auto-Paid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32826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First premium marked Paid instantly; funds registered in system.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2544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Casualty &amp; Disaster Insurance Platform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61447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4" name="Shape 38"/>
          <p:cNvSpPr/>
          <p:nvPr/>
        </p:nvSpPr>
        <p:spPr>
          <a:xfrm>
            <a:off x="6254496" y="3077807"/>
            <a:ext cx="438912" cy="438912"/>
          </a:xfrm>
          <a:prstGeom prst="line">
            <a:avLst/>
          </a:prstGeom>
          <a:solidFill>
            <a:srgbClr val="2E0F4E"/>
          </a:solidFill>
          <a:ln w="12700">
            <a:solidFill>
              <a:srgbClr val="2E0F4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0"/>
          <p:cNvSpPr/>
          <p:nvPr/>
        </p:nvSpPr>
        <p:spPr>
          <a:xfrm>
            <a:off x="6739128" y="3099998"/>
            <a:ext cx="13898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smtClean="0">
                <a:solidFill>
                  <a:srgbClr val="1C0A3C"/>
                </a:solidFill>
              </a:rPr>
              <a:t>Mail Triggered &amp; Invoice generated</a:t>
            </a:r>
            <a:endParaRPr lang="en-US" sz="1100" dirty="0"/>
          </a:p>
        </p:txBody>
      </p:sp>
      <p:sp>
        <p:nvSpPr>
          <p:cNvPr id="46" name="Text 41"/>
          <p:cNvSpPr/>
          <p:nvPr/>
        </p:nvSpPr>
        <p:spPr>
          <a:xfrm>
            <a:off x="6226615" y="3690455"/>
            <a:ext cx="241491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/>
              <a:t>N8N triggers an email and invoice is generated using Quest PDF.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Claim Processing Workflow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Customer files claim → automated vetting → ClaimOfficer investigates → settlement or rejection.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310896" y="1243584"/>
            <a:ext cx="402336" cy="402336"/>
          </a:xfrm>
          <a:prstGeom prst="lin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6"/>
          <p:cNvSpPr/>
          <p:nvPr/>
        </p:nvSpPr>
        <p:spPr>
          <a:xfrm>
            <a:off x="3108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55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Customer Files Claim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108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Submits reason, evidence document, and requested ClaimAmount against an active policy.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1729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3282696" y="1243584"/>
            <a:ext cx="402336" cy="402336"/>
          </a:xfrm>
          <a:prstGeom prst="line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32826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7673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Coverage Validation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2826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System verifies ClaimAmount ≤ Policy CoverageAmount. Rejects out-of-bounds claims automatically.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44768" y="111556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5"/>
          <p:cNvSpPr/>
          <p:nvPr/>
        </p:nvSpPr>
        <p:spPr>
          <a:xfrm>
            <a:off x="6254496" y="1243584"/>
            <a:ext cx="402336" cy="402336"/>
          </a:xfrm>
          <a:prstGeom prst="lin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6254496" y="12435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39128" y="122529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Claims Officer Assignment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254496" y="175564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ClaimOfficer with lowest pending queue is selected — ensures even workload distribution.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011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310896" y="3118104"/>
            <a:ext cx="402336" cy="402336"/>
          </a:xfrm>
          <a:prstGeom prst="line">
            <a:avLst/>
          </a:prstGeom>
          <a:solidFill>
            <a:srgbClr val="6C21A0"/>
          </a:solidFill>
          <a:ln w="12700">
            <a:solidFill>
              <a:srgbClr val="6C21A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108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955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Officer Investigates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108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>
                <a:solidFill>
                  <a:srgbClr val="5D4E75"/>
                </a:solidFill>
              </a:rPr>
              <a:t>Video verifies the disaster, Reviews reason </a:t>
            </a:r>
            <a:r>
              <a:rPr lang="en-US" sz="1000" dirty="0">
                <a:solidFill>
                  <a:srgbClr val="5D4E75"/>
                </a:solidFill>
              </a:rPr>
              <a:t>and evidence document before deciding.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1729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3172968" y="2990088"/>
            <a:ext cx="2816352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6"/>
          <p:cNvSpPr/>
          <p:nvPr/>
        </p:nvSpPr>
        <p:spPr>
          <a:xfrm>
            <a:off x="3282696" y="3118104"/>
            <a:ext cx="402336" cy="402336"/>
          </a:xfrm>
          <a:prstGeom prst="lin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32826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7673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Approve → ClaimPayment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32826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Officer sets ApprovedAmount. ClaimPayment recorded. Settlement Invoice generated by QuestPDF.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6144768" y="2990088"/>
            <a:ext cx="2816352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1"/>
          <p:cNvSpPr/>
          <p:nvPr/>
        </p:nvSpPr>
        <p:spPr>
          <a:xfrm>
            <a:off x="6144768" y="2990088"/>
            <a:ext cx="2816352" cy="54864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32"/>
          <p:cNvSpPr/>
          <p:nvPr/>
        </p:nvSpPr>
        <p:spPr>
          <a:xfrm>
            <a:off x="6254496" y="3118104"/>
            <a:ext cx="402336" cy="402336"/>
          </a:xfrm>
          <a:prstGeom prst="lin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3"/>
          <p:cNvSpPr/>
          <p:nvPr/>
        </p:nvSpPr>
        <p:spPr>
          <a:xfrm>
            <a:off x="6254496" y="31181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39128" y="3099816"/>
            <a:ext cx="212140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0A3C"/>
                </a:solidFill>
              </a:rPr>
              <a:t>Reject → Rejection Invoice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6254496" y="3630168"/>
            <a:ext cx="2596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State set to Rejected. Formal Rejection Invoice generated for legal consistency. Customer notified.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Casualty &amp; Disaster Insurance Platform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8F5FF"/>
          </a:solidFill>
          <a:ln w="12700">
            <a:solidFill>
              <a:srgbClr val="C39BD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20040" y="64008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1C0A3C"/>
                </a:solidFill>
              </a:rPr>
              <a:t>Key Technical Innovations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585216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D4E75"/>
                </a:solidFill>
              </a:rPr>
              <a:t>Engineering decisions that make this platform production-grade and maintainable.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64592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1168" y="1115568"/>
            <a:ext cx="28163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201168" y="1115568"/>
            <a:ext cx="91440" cy="166420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" y="1261872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86968" y="1234440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0A3C"/>
                </a:solidFill>
              </a:rPr>
              <a:t>Plan Value Snapshotting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384048" y="1773936"/>
            <a:ext cx="2523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4E75"/>
                </a:solidFill>
              </a:rPr>
              <a:t>BasePremiumAmount </a:t>
            </a:r>
            <a:r>
              <a:rPr lang="en-US" sz="1000" dirty="0" smtClean="0">
                <a:solidFill>
                  <a:srgbClr val="5D4E75"/>
                </a:solidFill>
              </a:rPr>
              <a:t>&amp; BaseCoverageAmount </a:t>
            </a:r>
            <a:r>
              <a:rPr lang="en-US" sz="1000" dirty="0">
                <a:solidFill>
                  <a:srgbClr val="5D4E75"/>
                </a:solidFill>
              </a:rPr>
              <a:t>copied into Policy at purchase </a:t>
            </a:r>
            <a:r>
              <a:rPr lang="en-US" sz="1000" dirty="0" smtClean="0">
                <a:solidFill>
                  <a:srgbClr val="5D4E75"/>
                </a:solidFill>
              </a:rPr>
              <a:t>- </a:t>
            </a:r>
            <a:r>
              <a:rPr lang="en-US" sz="1000" dirty="0">
                <a:solidFill>
                  <a:srgbClr val="5D4E75"/>
                </a:solidFill>
              </a:rPr>
              <a:t>contracts immutable to future plan edits.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172968" y="1115568"/>
            <a:ext cx="28163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9"/>
          <p:cNvSpPr/>
          <p:nvPr/>
        </p:nvSpPr>
        <p:spPr>
          <a:xfrm>
            <a:off x="3172968" y="1115568"/>
            <a:ext cx="91440" cy="166420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136" y="1261872"/>
            <a:ext cx="402336" cy="40233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858768" y="1234440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>
                <a:solidFill>
                  <a:srgbClr val="1C0A3C"/>
                </a:solidFill>
              </a:rPr>
              <a:t>SHA-256 Document Integrity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3355848" y="1773936"/>
            <a:ext cx="2523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>
                <a:solidFill>
                  <a:srgbClr val="5D4E75"/>
                </a:solidFill>
              </a:rPr>
              <a:t>Every </a:t>
            </a:r>
            <a:r>
              <a:rPr lang="en-US" sz="1000" dirty="0">
                <a:solidFill>
                  <a:srgbClr val="5D4E75"/>
                </a:solidFill>
              </a:rPr>
              <a:t>document is hashed on upload. Hash stored in DB </a:t>
            </a:r>
            <a:r>
              <a:rPr lang="en-US" sz="1000" dirty="0" smtClean="0">
                <a:solidFill>
                  <a:srgbClr val="5D4E75"/>
                </a:solidFill>
              </a:rPr>
              <a:t>for verification.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144768" y="1115568"/>
            <a:ext cx="28163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3"/>
          <p:cNvSpPr/>
          <p:nvPr/>
        </p:nvSpPr>
        <p:spPr>
          <a:xfrm>
            <a:off x="6144768" y="1115568"/>
            <a:ext cx="91440" cy="166420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1261872"/>
            <a:ext cx="402336" cy="40233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830568" y="1234440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0A3C"/>
                </a:solidFill>
              </a:rPr>
              <a:t>V</a:t>
            </a:r>
            <a:r>
              <a:rPr lang="en-US" sz="1150" b="1" dirty="0" smtClean="0">
                <a:solidFill>
                  <a:srgbClr val="1C0A3C"/>
                </a:solidFill>
              </a:rPr>
              <a:t>ideo Verification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6327648" y="1773936"/>
            <a:ext cx="2523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 smtClean="0"/>
              <a:t>Bridges </a:t>
            </a:r>
            <a:r>
              <a:rPr lang="en-US" sz="1000" dirty="0"/>
              <a:t>the Claims Officer and Customer through scheduled video verification using the Agora SDK</a:t>
            </a:r>
            <a:r>
              <a:rPr lang="en-US" sz="1000" dirty="0" smtClean="0"/>
              <a:t>.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201168" y="2944368"/>
            <a:ext cx="28163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17"/>
          <p:cNvSpPr/>
          <p:nvPr/>
        </p:nvSpPr>
        <p:spPr>
          <a:xfrm>
            <a:off x="201168" y="2944368"/>
            <a:ext cx="91440" cy="166420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" y="3090672"/>
            <a:ext cx="402336" cy="40233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86968" y="3063240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>
                <a:solidFill>
                  <a:srgbClr val="1C0A3C"/>
                </a:solidFill>
              </a:rPr>
              <a:t>Least Queue Claim </a:t>
            </a:r>
            <a:r>
              <a:rPr lang="en-US" sz="1150" b="1" dirty="0">
                <a:solidFill>
                  <a:srgbClr val="1C0A3C"/>
                </a:solidFill>
              </a:rPr>
              <a:t>Routing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384048" y="3602736"/>
            <a:ext cx="2523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>
                <a:solidFill>
                  <a:srgbClr val="5D4E75"/>
                </a:solidFill>
              </a:rPr>
              <a:t>Claims Officers and Agents assigned </a:t>
            </a:r>
            <a:r>
              <a:rPr lang="en-US" sz="1000" dirty="0">
                <a:solidFill>
                  <a:srgbClr val="5D4E75"/>
                </a:solidFill>
              </a:rPr>
              <a:t>by least-queue algorithm ensuring balanced workloads across all officers.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3172968" y="2944368"/>
            <a:ext cx="28163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1"/>
          <p:cNvSpPr/>
          <p:nvPr/>
        </p:nvSpPr>
        <p:spPr>
          <a:xfrm>
            <a:off x="3172968" y="2944368"/>
            <a:ext cx="91440" cy="166420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74136" y="3090672"/>
            <a:ext cx="402336" cy="402336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3858768" y="3063240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0A3C"/>
                </a:solidFill>
              </a:rPr>
              <a:t>Async PDF Generation</a:t>
            </a:r>
            <a:endParaRPr lang="en-US" sz="1150" dirty="0"/>
          </a:p>
        </p:txBody>
      </p:sp>
      <p:sp>
        <p:nvSpPr>
          <p:cNvPr id="31" name="Text 23"/>
          <p:cNvSpPr/>
          <p:nvPr/>
        </p:nvSpPr>
        <p:spPr>
          <a:xfrm>
            <a:off x="3355848" y="3602736"/>
            <a:ext cx="2523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/>
              <a:t>QuestPDF is invoked via a background </a:t>
            </a:r>
            <a:r>
              <a:rPr lang="en-US" sz="1000" dirty="0" smtClean="0"/>
              <a:t>service - to </a:t>
            </a:r>
            <a:r>
              <a:rPr lang="en-US" sz="1000" dirty="0"/>
              <a:t>generate policy, payment, and claim invoices.</a:t>
            </a:r>
            <a:endParaRPr lang="en-US" sz="1000" dirty="0"/>
          </a:p>
        </p:txBody>
      </p:sp>
      <p:sp>
        <p:nvSpPr>
          <p:cNvPr id="32" name="Shape 24"/>
          <p:cNvSpPr/>
          <p:nvPr/>
        </p:nvSpPr>
        <p:spPr>
          <a:xfrm>
            <a:off x="6144768" y="2944368"/>
            <a:ext cx="2816352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C39BD3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Shape 25"/>
          <p:cNvSpPr/>
          <p:nvPr/>
        </p:nvSpPr>
        <p:spPr>
          <a:xfrm>
            <a:off x="6144768" y="2944368"/>
            <a:ext cx="91440" cy="1664208"/>
          </a:xfrm>
          <a:prstGeom prst="rect">
            <a:avLst/>
          </a:prstGeom>
          <a:solidFill>
            <a:srgbClr val="7B2FBE"/>
          </a:solidFill>
          <a:ln w="12700">
            <a:solidFill>
              <a:srgbClr val="7B2FB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5936" y="3090672"/>
            <a:ext cx="402336" cy="402336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830568" y="3063240"/>
            <a:ext cx="201168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 smtClean="0">
                <a:solidFill>
                  <a:srgbClr val="1C0A3C"/>
                </a:solidFill>
              </a:rPr>
              <a:t>N8N based Mail Notifications</a:t>
            </a:r>
            <a:endParaRPr lang="en-US" sz="1150" dirty="0"/>
          </a:p>
        </p:txBody>
      </p:sp>
      <p:sp>
        <p:nvSpPr>
          <p:cNvPr id="36" name="Text 27"/>
          <p:cNvSpPr/>
          <p:nvPr/>
        </p:nvSpPr>
        <p:spPr>
          <a:xfrm>
            <a:off x="6327648" y="3602736"/>
            <a:ext cx="25237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/>
              <a:t>An automated email is triggered via an n8n workflow whenever a policy is purchased.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3B1A7A"/>
          </a:solidFill>
          <a:ln w="12700">
            <a:solidFill>
              <a:srgbClr val="3B1A7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29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Casualty &amp; Disaster Insurance Platform</a:t>
            </a:r>
            <a:endParaRPr lang="en-US" sz="1000" dirty="0"/>
          </a:p>
        </p:txBody>
      </p:sp>
      <p:pic>
        <p:nvPicPr>
          <p:cNvPr id="40" name="Image 0" descr="preencoded.png">
            <a:extLst>
              <a:ext uri="{FF2B5EF4-FFF2-40B4-BE49-F238E27FC236}">
                <a16:creationId xmlns:a16="http://schemas.microsoft.com/office/drawing/2014/main" id="{105D1A9F-ECEB-8B70-3C0D-F73BB4F47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022" y="3092958"/>
            <a:ext cx="411480" cy="411480"/>
          </a:xfrm>
          <a:prstGeom prst="rect">
            <a:avLst/>
          </a:prstGeom>
        </p:spPr>
      </p:pic>
      <p:pic>
        <p:nvPicPr>
          <p:cNvPr id="42" name="Image 0" descr="preencoded.png">
            <a:extLst>
              <a:ext uri="{FF2B5EF4-FFF2-40B4-BE49-F238E27FC236}">
                <a16:creationId xmlns:a16="http://schemas.microsoft.com/office/drawing/2014/main" id="{0B30F530-24C1-2F60-152A-DCB99732B93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" y="1298448"/>
            <a:ext cx="320040" cy="320040"/>
          </a:xfrm>
          <a:prstGeom prst="rect">
            <a:avLst/>
          </a:prstGeom>
        </p:spPr>
      </p:pic>
      <p:pic>
        <p:nvPicPr>
          <p:cNvPr id="44" name="Image 0" descr="preencoded.png">
            <a:extLst>
              <a:ext uri="{FF2B5EF4-FFF2-40B4-BE49-F238E27FC236}">
                <a16:creationId xmlns:a16="http://schemas.microsoft.com/office/drawing/2014/main" id="{A45A7A61-FD5E-5709-F050-57DAE083C3D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74136" y="1280160"/>
            <a:ext cx="402336" cy="40233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C21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498080" y="-457200"/>
            <a:ext cx="2286000" cy="2286000"/>
          </a:xfrm>
          <a:prstGeom prst="line">
            <a:avLst/>
          </a:prstGeom>
          <a:solidFill>
            <a:srgbClr val="7B2FBE">
              <a:alpha val="30000"/>
            </a:srgbClr>
          </a:solidFill>
          <a:ln w="12700">
            <a:solidFill>
              <a:srgbClr val="7B2FB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837" y="610218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6728" y="2379294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FFFF"/>
                </a:solidFill>
              </a:rPr>
              <a:t>THANK YOU !!</a:t>
            </a:r>
            <a:endParaRPr lang="en-US" sz="5000" dirty="0"/>
          </a:p>
        </p:txBody>
      </p:sp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0533"/>
          </a:solidFill>
          <a:ln w="12700">
            <a:solidFill>
              <a:srgbClr val="1A05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dirty="0">
                <a:solidFill>
                  <a:srgbClr val="A78CC0"/>
                </a:solidFill>
              </a:rPr>
              <a:t>.NET </a:t>
            </a:r>
            <a:r>
              <a:rPr lang="en-US" sz="1000" dirty="0" smtClean="0">
                <a:solidFill>
                  <a:srgbClr val="A78CC0"/>
                </a:solidFill>
              </a:rPr>
              <a:t>8  </a:t>
            </a:r>
            <a:r>
              <a:rPr lang="en-US" sz="1000" dirty="0">
                <a:solidFill>
                  <a:srgbClr val="A78CC0"/>
                </a:solidFill>
              </a:rPr>
              <a:t>•  Angular </a:t>
            </a:r>
            <a:r>
              <a:rPr lang="en-US" sz="1000" dirty="0" smtClean="0">
                <a:solidFill>
                  <a:srgbClr val="A78CC0"/>
                </a:solidFill>
              </a:rPr>
              <a:t>21</a:t>
            </a:r>
            <a:r>
              <a:rPr lang="en-US" sz="1000" dirty="0" smtClean="0">
                <a:solidFill>
                  <a:srgbClr val="A78CC0"/>
                </a:solidFill>
              </a:rPr>
              <a:t>  </a:t>
            </a:r>
            <a:r>
              <a:rPr lang="en-US" sz="1000" dirty="0">
                <a:solidFill>
                  <a:srgbClr val="A78CC0"/>
                </a:solidFill>
              </a:rPr>
              <a:t>•  SQL Server  •  QuestPDF  •  Vercel Blob  •  SignalR  •  JWT </a:t>
            </a:r>
            <a:r>
              <a:rPr lang="en-US" sz="1000" dirty="0" smtClean="0">
                <a:solidFill>
                  <a:srgbClr val="A78CC0"/>
                </a:solidFill>
              </a:rPr>
              <a:t>Auth  </a:t>
            </a:r>
            <a:r>
              <a:rPr lang="en-US" sz="1000" dirty="0" smtClean="0">
                <a:solidFill>
                  <a:srgbClr val="A78CC0"/>
                </a:solidFill>
              </a:rPr>
              <a:t> </a:t>
            </a:r>
            <a:r>
              <a:rPr lang="en-US" sz="1000" dirty="0">
                <a:solidFill>
                  <a:srgbClr val="A78CC0"/>
                </a:solidFill>
              </a:rPr>
              <a:t>• </a:t>
            </a:r>
            <a:r>
              <a:rPr lang="en-US" sz="1000" dirty="0" smtClean="0">
                <a:solidFill>
                  <a:srgbClr val="A78CC0"/>
                </a:solidFill>
              </a:rPr>
              <a:t>N8N  •  Agora SDK  </a:t>
            </a:r>
            <a:endParaRPr lang="en-US" sz="1000" dirty="0"/>
          </a:p>
        </p:txBody>
      </p:sp>
      <p:sp>
        <p:nvSpPr>
          <p:cNvPr id="2" name="Rectangle 1"/>
          <p:cNvSpPr/>
          <p:nvPr/>
        </p:nvSpPr>
        <p:spPr>
          <a:xfrm>
            <a:off x="453339" y="3240421"/>
            <a:ext cx="8237319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would like to express </a:t>
            </a:r>
            <a:r>
              <a:rPr lang="en-US" dirty="0" smtClean="0">
                <a:solidFill>
                  <a:schemeClr val="bg1"/>
                </a:solidFill>
              </a:rPr>
              <a:t>my sincere </a:t>
            </a:r>
            <a:r>
              <a:rPr lang="en-US" dirty="0">
                <a:solidFill>
                  <a:schemeClr val="bg1"/>
                </a:solidFill>
              </a:rPr>
              <a:t>gratitude to </a:t>
            </a:r>
            <a:r>
              <a:rPr lang="en-US" b="1" dirty="0" smtClean="0">
                <a:solidFill>
                  <a:schemeClr val="bg1"/>
                </a:solidFill>
              </a:rPr>
              <a:t>The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r>
              <a:rPr lang="en-US" b="1" dirty="0" smtClean="0">
                <a:solidFill>
                  <a:schemeClr val="bg1"/>
                </a:solidFill>
              </a:rPr>
              <a:t>Hartford </a:t>
            </a:r>
            <a:r>
              <a:rPr lang="en-US" b="1" dirty="0" smtClean="0">
                <a:solidFill>
                  <a:schemeClr val="bg1"/>
                </a:solidFill>
              </a:rPr>
              <a:t>India, </a:t>
            </a:r>
            <a:r>
              <a:rPr lang="en-US" b="1" dirty="0">
                <a:solidFill>
                  <a:schemeClr val="bg1"/>
                </a:solidFill>
              </a:rPr>
              <a:t>GUVI, </a:t>
            </a:r>
            <a:r>
              <a:rPr lang="en-US" b="1" dirty="0" smtClean="0">
                <a:solidFill>
                  <a:schemeClr val="bg1"/>
                </a:solidFill>
              </a:rPr>
              <a:t>Surya, </a:t>
            </a:r>
          </a:p>
          <a:p>
            <a:pPr algn="ctr"/>
            <a:r>
              <a:rPr lang="en-US" b="1" dirty="0" smtClean="0">
                <a:solidFill>
                  <a:schemeClr val="bg1"/>
                </a:solidFill>
              </a:rPr>
              <a:t>Ranjan </a:t>
            </a:r>
            <a:r>
              <a:rPr lang="en-US" b="1" dirty="0">
                <a:solidFill>
                  <a:schemeClr val="bg1"/>
                </a:solidFill>
              </a:rPr>
              <a:t>Bhatnagar, </a:t>
            </a:r>
            <a:r>
              <a:rPr lang="en-US" b="1" dirty="0" smtClean="0">
                <a:solidFill>
                  <a:schemeClr val="bg1"/>
                </a:solidFill>
              </a:rPr>
              <a:t>and </a:t>
            </a:r>
            <a:r>
              <a:rPr lang="en-US" b="1" dirty="0">
                <a:solidFill>
                  <a:schemeClr val="bg1"/>
                </a:solidFill>
              </a:rPr>
              <a:t>Koti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smtClean="0">
                <a:solidFill>
                  <a:schemeClr val="bg1"/>
                </a:solidFill>
              </a:rPr>
              <a:t>for </a:t>
            </a:r>
            <a:r>
              <a:rPr lang="en-US" dirty="0">
                <a:solidFill>
                  <a:schemeClr val="bg1"/>
                </a:solidFill>
              </a:rPr>
              <a:t>their valuable support, guidance, and encouragement </a:t>
            </a:r>
            <a:endParaRPr lang="en-US" dirty="0" smtClean="0">
              <a:solidFill>
                <a:schemeClr val="bg1"/>
              </a:solidFill>
            </a:endParaRPr>
          </a:p>
          <a:p>
            <a:pPr algn="ctr"/>
            <a:r>
              <a:rPr lang="en-US" dirty="0" smtClean="0">
                <a:solidFill>
                  <a:schemeClr val="bg1"/>
                </a:solidFill>
              </a:rPr>
              <a:t>throughout the training and development of </a:t>
            </a:r>
            <a:r>
              <a:rPr lang="en-US" dirty="0">
                <a:solidFill>
                  <a:schemeClr val="bg1"/>
                </a:solidFill>
              </a:rPr>
              <a:t>this project. Their insights and resources </a:t>
            </a:r>
            <a:endParaRPr lang="en-US" dirty="0" smtClean="0">
              <a:solidFill>
                <a:schemeClr val="bg1"/>
              </a:solidFill>
            </a:endParaRPr>
          </a:p>
          <a:p>
            <a:pPr algn="ctr"/>
            <a:r>
              <a:rPr lang="en-US" dirty="0" smtClean="0">
                <a:solidFill>
                  <a:schemeClr val="bg1"/>
                </a:solidFill>
              </a:rPr>
              <a:t>greatly contributed </a:t>
            </a:r>
            <a:r>
              <a:rPr lang="en-US" dirty="0">
                <a:solidFill>
                  <a:schemeClr val="bg1"/>
                </a:solidFill>
              </a:rPr>
              <a:t>to the successful completion of </a:t>
            </a:r>
            <a:r>
              <a:rPr lang="en-US" dirty="0" smtClean="0">
                <a:solidFill>
                  <a:schemeClr val="bg1"/>
                </a:solidFill>
              </a:rPr>
              <a:t>my work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1231</Words>
  <Application>Microsoft Office PowerPoint</Application>
  <PresentationFormat>On-screen Show (16:9)</PresentationFormat>
  <Paragraphs>252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Casualty &amp; Disaster Insurance Platform</dc:title>
  <dc:subject>PptxGenJS Presentation</dc:subject>
  <dc:creator>PptxGenJS</dc:creator>
  <cp:lastModifiedBy>DELL</cp:lastModifiedBy>
  <cp:revision>38</cp:revision>
  <dcterms:created xsi:type="dcterms:W3CDTF">2026-03-05T01:48:27Z</dcterms:created>
  <dcterms:modified xsi:type="dcterms:W3CDTF">2026-03-11T10:51:54Z</dcterms:modified>
</cp:coreProperties>
</file>