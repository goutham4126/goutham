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3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34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67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640080" y="3474720"/>
            <a:ext cx="2011680" cy="2011680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0" y="91440"/>
            <a:ext cx="1645920" cy="1645920"/>
          </a:xfrm>
          <a:prstGeom prst="line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6400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" y="435254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 smtClean="0">
                <a:solidFill>
                  <a:srgbClr val="FFFFFF"/>
                </a:solidFill>
              </a:rPr>
              <a:t>BY GOUTHAM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" y="272491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DISASTER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0020" y="33101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INSURANCE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7160" y="390411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D7B8F3"/>
                </a:solidFill>
              </a:rPr>
              <a:t>PLATFORM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206240" y="594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D4E75"/>
                </a:solidFill>
              </a:rPr>
              <a:t>Intelligent Digital Insurance System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206240" y="1170432"/>
            <a:ext cx="4572000" cy="2286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206240" y="1325880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251960" y="13258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.NET 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1325880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852160" y="13258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Angular 21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6640" y="1325880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452360" y="13258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SQL Server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06240" y="1892808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251960" y="18928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JWT Auth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06440" y="1892808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852160" y="18928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SignalR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06640" y="1892808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452360" y="18928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QuestPDF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06240" y="2459736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251960" y="245973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Vercel Blob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06240" y="2880360"/>
            <a:ext cx="466344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343400" y="2971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0A3C"/>
                </a:solidFill>
              </a:rPr>
              <a:t>Full-Stack Architecture Presentation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343400" y="340156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4E75"/>
                </a:solidFill>
              </a:rPr>
              <a:t>Clean Architecture  •  REST API
Role-Based Access  •  Cloud Storage  •  PDF Generation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  <p:sp>
        <p:nvSpPr>
          <p:cNvPr id="31" name="Text 3"/>
          <p:cNvSpPr/>
          <p:nvPr/>
        </p:nvSpPr>
        <p:spPr>
          <a:xfrm>
            <a:off x="160020" y="2492787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</a:rPr>
              <a:t>CASUALTY &amp;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Problem Statement — Traditional Insurance Challenges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Legacy insurance systems are plagued with inefficiency, opacity, and manual bottlenecks.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78992"/>
            <a:ext cx="274320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28600" y="1078992"/>
            <a:ext cx="2743200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" y="1426464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2124" y="14264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Manual Claim Processing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181051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Claims processed by hand, causing delays of days or weeks. No automated validation or routing.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182112" y="1078992"/>
            <a:ext cx="274320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182112" y="1078992"/>
            <a:ext cx="2743200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4027932" y="1425057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Slow Policy Approvals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319272" y="181051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Manual policy review and agent assignment leads to approval backlogs and poor customer experience.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35624" y="1078992"/>
            <a:ext cx="274320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135624" y="1078992"/>
            <a:ext cx="2743200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1453896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26052" y="14218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Lack of Transparency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272784" y="181051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Customers have no visibility into claim status, payment schedules, or policy details in real time.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28600" y="3520440"/>
            <a:ext cx="4224528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228600" y="3520440"/>
            <a:ext cx="4224528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34" y="3702265"/>
            <a:ext cx="331294" cy="33129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6968" y="3656897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Poor Document Management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65760" y="4078224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Physical or siloed document storage causes loss, duplication, and version conflicts.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681728" y="3520440"/>
            <a:ext cx="4224528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4681728" y="3520440"/>
            <a:ext cx="4224528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689604"/>
            <a:ext cx="374904" cy="3749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76672" y="3653028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No Real-Time Notifications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818888" y="4078224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No instant alerts for critical events — customers discover updates only through manual follow-up.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1421892"/>
            <a:ext cx="502920" cy="502920"/>
          </a:xfrm>
          <a:prstGeom prst="rect">
            <a:avLst/>
          </a:prstGeom>
        </p:spPr>
      </p:pic>
      <p:pic>
        <p:nvPicPr>
          <p:cNvPr id="34" name="Image 4" descr="preencoded.png">
            <a:extLst>
              <a:ext uri="{FF2B5EF4-FFF2-40B4-BE49-F238E27FC236}">
                <a16:creationId xmlns:a16="http://schemas.microsoft.com/office/drawing/2014/main" id="{4B544ADB-68C5-CE13-2C5E-1D32A2858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6016" y="1497769"/>
            <a:ext cx="415173" cy="415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Solution Overview — Digital Insurance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A fully automated, scalable, and secure full-stack platform replacing manual insurance operations.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01168" y="11155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34416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339596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Automated Policy Management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10896" y="16916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PolicyRequest→Agent approval→Purchase flow with snapshot, risk scoring, and installment scheduling.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1729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172968" y="11155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33959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76472" y="1312692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Real-Time Notifications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282696" y="16916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SignalR-powered push notifications for claims, payments, and all policy lifecycle events.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447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144768" y="11155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479" y="131673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48272" y="1261872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Intelligent Claim Processing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254496" y="16916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5D4E75"/>
                </a:solidFill>
              </a:rPr>
              <a:t>Least queue officer </a:t>
            </a:r>
            <a:r>
              <a:rPr lang="en-US" sz="1050" dirty="0">
                <a:solidFill>
                  <a:srgbClr val="5D4E75"/>
                </a:solidFill>
              </a:rPr>
              <a:t>assignment, coverage validation, approval/rejection workflow, instant payouts.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011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201168" y="29443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0954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2396" y="3177540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Secure Document Storage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310896" y="35204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Vercel Blob cloud storage with SHA-256 document hashing for integrity verification.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1729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3172968" y="29443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154680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86200" y="3122676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Scalable Architecture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3282696" y="35204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Clean Architecture with separated layers — Domain, Application, Infrastructure, Presentation.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1447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6144768" y="29443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145536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66560" y="3108960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Automated PDF Generation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6254496" y="35204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QuestPDF generates policy deeds, payment receipts, and claim settlement invoices automatically.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2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System Architecture — Clean Architecture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Four-layer architecture with strict dependency inversion — outer layers depend on inner ones.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51560"/>
            <a:ext cx="8595360" cy="731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38912" y="10881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40817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DDCCEE"/>
                </a:solidFill>
              </a:rPr>
              <a:t>•  Angular 21 SPA  •  .NET 8 Web API Controllers  •  JWT Auth Middleware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04672" y="195681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Layer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22768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DDCCEE"/>
                </a:solidFill>
              </a:rPr>
              <a:t>•  DTOs  •  Services  • Interfaces  •  Business Orchestration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05840" y="2788920"/>
            <a:ext cx="7132320" cy="731520"/>
          </a:xfrm>
          <a:prstGeom prst="rect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170432" y="28254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Infrastructure Layer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70432" y="31455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DDCCEE"/>
                </a:solidFill>
              </a:rPr>
              <a:t>• Repositories  • Vercel Blob  •  QuestPDF  •  SignalR  •  SQL Server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536192" y="369417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Domain Layer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36192" y="401421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DDCCEE"/>
                </a:solidFill>
              </a:rPr>
              <a:t>•  Entities  •  Enums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Modern, cloud-native technologies chosen for scalability, security, and developer productivity.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078992"/>
            <a:ext cx="20848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01168" y="1078992"/>
            <a:ext cx="2084832" cy="457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92608" y="10789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" y="1737360"/>
            <a:ext cx="146304" cy="146304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" y="16642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Angular 21 (SPA)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" y="2249424"/>
            <a:ext cx="146304" cy="146304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8640" y="21762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TypeScript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" y="2761488"/>
            <a:ext cx="146304" cy="146304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" y="268833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1C0A3C"/>
                </a:solidFill>
              </a:rPr>
              <a:t>Tailwind CSS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423160" y="1078992"/>
            <a:ext cx="20848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423160" y="1078992"/>
            <a:ext cx="2084832" cy="457200"/>
          </a:xfrm>
          <a:prstGeom prst="rect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514600" y="10789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560320" y="1737360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770632" y="16642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.NET 8 Web API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60320" y="2249424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770632" y="21762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Clean Architecture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560320" y="2761488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770632" y="268833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Entity Framework Core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560320" y="3273552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770632" y="3200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JWT Bearer Auth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560320" y="3785616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770632" y="371246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SignalR (WebSocket)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45152" y="1078992"/>
            <a:ext cx="20848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4645152" y="1078992"/>
            <a:ext cx="2084832" cy="457200"/>
          </a:xfrm>
          <a:prstGeom prst="rect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736592" y="10789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782312" y="1737360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992624" y="16642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SQL Server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782312" y="2249424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992624" y="21762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EF Core Migrations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782312" y="2761488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992624" y="268833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Soft Delete Pattern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782312" y="3273552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4992624" y="3200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GUID Primary Keys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782312" y="3785616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4992624" y="371246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Relational Schema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867144" y="1078992"/>
            <a:ext cx="20848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6867144" y="1078992"/>
            <a:ext cx="2084832" cy="45720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6958584" y="10789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External Services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7004304" y="1737360"/>
            <a:ext cx="146304" cy="146304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7214616" y="16642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Vercel Blob Storage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004304" y="2249424"/>
            <a:ext cx="146304" cy="146304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214616" y="21762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Quest PDF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7004304" y="2761488"/>
            <a:ext cx="146304" cy="146304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7214616" y="268833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SHA-256 Integrity Hash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Core Domain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9 core entities with relationships — PolicyRequest is central to the approval workflow.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4592" y="1078992"/>
            <a:ext cx="21488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37744" y="108813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6032" y="14081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56032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FirstName / LastName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56032" y="19202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Email / Role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56032" y="21762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GovernmentId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56032" y="2432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IsDeleted (soft)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450592" y="1078992"/>
            <a:ext cx="2148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450592" y="1078992"/>
            <a:ext cx="21488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523744" y="108813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42032" y="14081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42032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Name / Description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42032" y="19202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PremiumAmount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542032" y="21762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CoverageAmount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542032" y="2432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DurationInMonths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36592" y="1078992"/>
            <a:ext cx="2148840" cy="3017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809744" y="108813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PolicyRequest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28032" y="14081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UserId, PlanId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28032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RiskScore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828032" y="19202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PanDocumentUrl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828032" y="21762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AddressProofUrl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828032" y="2432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Status (Pending/Approved/Rejected)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022592" y="1078992"/>
            <a:ext cx="195681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7022592" y="1078992"/>
            <a:ext cx="1956816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095744" y="1088136"/>
            <a:ext cx="1847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Policy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114032" y="1408176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UserId, PlanId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114032" y="1664208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PlanBasePremium 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14032" y="1920240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PlanBaseCoverage 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114032" y="2176272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CoverageAmount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114032" y="2432304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PaymentFrequency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64592" y="2999232"/>
            <a:ext cx="2148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164592" y="2999232"/>
            <a:ext cx="21488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237744" y="300837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PolicyPayment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256032" y="332841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PolicyId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256032" y="35844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Amount / DueDate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56032" y="3840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PaidDate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256032" y="4096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Status (Pending/Paid/Overdue)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450592" y="2999232"/>
            <a:ext cx="21488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2523744" y="300837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Claim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2542032" y="332841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PolicyId, UserId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542032" y="35844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ClaimOfficerId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2542032" y="3840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ClaimAmount / ApprovedAmount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2542032" y="4096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DocumentUrl + Hash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2542032" y="43525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Status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736592" y="2999232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4736592" y="2999232"/>
            <a:ext cx="19202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4809744" y="300837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ClaimPayment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828032" y="3328416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ClaimId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4828032" y="3584448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AmountPaid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4828032" y="384048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PaidAt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793992" y="2999232"/>
            <a:ext cx="2185416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6867144" y="3008376"/>
            <a:ext cx="2075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Invoice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6885432" y="3328416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UserId, ReferenceId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6885432" y="3584448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Type (Policy/Claim/Pmt)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6885432" y="3840480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FileUrl (Vercel Blob)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256032" y="48097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 (auto int)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256032" y="50657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UserId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256032" y="53218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Title / Message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256032" y="55778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IsRead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2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" y="73152"/>
            <a:ext cx="9070848" cy="777240"/>
          </a:xfrm>
          <a:prstGeom prst="rect">
            <a:avLst/>
          </a:prstGeom>
          <a:solidFill>
            <a:srgbClr val="F8F5FF"/>
          </a:solidFill>
          <a:ln w="12700">
            <a:solidFill>
              <a:srgbClr val="F8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4B"/>
                </a:solidFill>
              </a:rPr>
              <a:t>Role-Based Access Control — 4 System Roles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" y="12344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82880" y="1234440"/>
            <a:ext cx="2011680" cy="10058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389888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92608" y="2313432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48640" y="216712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Send policy requests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92608" y="2798064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548640" y="26563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Pay premium installments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92608" y="3282696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57784" y="3145536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Submit insurance claims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92608" y="3767328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48640" y="36210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View own invoices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92608" y="4251960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48640" y="4107647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Receive notifications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377440" y="12344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E57C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2377440" y="1234440"/>
            <a:ext cx="2011680" cy="100584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256" y="1389888"/>
            <a:ext cx="393192" cy="39319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377440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2487168" y="2313432"/>
            <a:ext cx="128016" cy="128016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2743200" y="2172009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Accept/Reject policy requests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2487168" y="2798064"/>
            <a:ext cx="128016" cy="128016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2743200" y="26563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Monitor payment status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2487168" y="3282696"/>
            <a:ext cx="128016" cy="128016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2752344" y="31638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Auto-assigned on request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2487168" y="3767328"/>
            <a:ext cx="128016" cy="128016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2743200" y="363016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Least-busy algorithm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572000" y="12344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4572000" y="1234440"/>
            <a:ext cx="2011680" cy="1005840"/>
          </a:xfrm>
          <a:prstGeom prst="rect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816" y="1389888"/>
            <a:ext cx="393192" cy="39319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572000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Claim Officer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4681728" y="2313432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6"/>
          <p:cNvSpPr/>
          <p:nvPr/>
        </p:nvSpPr>
        <p:spPr>
          <a:xfrm>
            <a:off x="4919472" y="217167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View assigned claims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681728" y="2798064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8"/>
          <p:cNvSpPr/>
          <p:nvPr/>
        </p:nvSpPr>
        <p:spPr>
          <a:xfrm>
            <a:off x="4919472" y="264718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Approve with payout amount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4681728" y="3282696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0"/>
          <p:cNvSpPr/>
          <p:nvPr/>
        </p:nvSpPr>
        <p:spPr>
          <a:xfrm>
            <a:off x="4919472" y="3145536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Reject claims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4681728" y="3767328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/>
          <p:nvPr/>
        </p:nvSpPr>
        <p:spPr>
          <a:xfrm>
            <a:off x="4919472" y="36210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Auto-assigned on claim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4681728" y="4251960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4"/>
          <p:cNvSpPr/>
          <p:nvPr/>
        </p:nvSpPr>
        <p:spPr>
          <a:xfrm>
            <a:off x="4919472" y="411937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Generate status invoices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6766560" y="12344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46"/>
          <p:cNvSpPr/>
          <p:nvPr/>
        </p:nvSpPr>
        <p:spPr>
          <a:xfrm>
            <a:off x="6766560" y="1234440"/>
            <a:ext cx="201168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376" y="1389888"/>
            <a:ext cx="393192" cy="393192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6766560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</a:t>
            </a:r>
            <a:endParaRPr lang="en-US" sz="1300" dirty="0"/>
          </a:p>
        </p:txBody>
      </p:sp>
      <p:sp>
        <p:nvSpPr>
          <p:cNvPr id="56" name="Shape 49"/>
          <p:cNvSpPr/>
          <p:nvPr/>
        </p:nvSpPr>
        <p:spPr>
          <a:xfrm>
            <a:off x="6876288" y="2313432"/>
            <a:ext cx="128016" cy="128016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0"/>
          <p:cNvSpPr/>
          <p:nvPr/>
        </p:nvSpPr>
        <p:spPr>
          <a:xfrm>
            <a:off x="7141464" y="218084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Manage all users &amp; roles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6876288" y="2798064"/>
            <a:ext cx="128016" cy="128016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2"/>
          <p:cNvSpPr/>
          <p:nvPr/>
        </p:nvSpPr>
        <p:spPr>
          <a:xfrm>
            <a:off x="7141464" y="264718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Create/update/deactivate plans</a:t>
            </a:r>
            <a:endParaRPr lang="en-US" sz="950" dirty="0"/>
          </a:p>
        </p:txBody>
      </p:sp>
      <p:sp>
        <p:nvSpPr>
          <p:cNvPr id="60" name="Shape 53"/>
          <p:cNvSpPr/>
          <p:nvPr/>
        </p:nvSpPr>
        <p:spPr>
          <a:xfrm>
            <a:off x="6876288" y="3282696"/>
            <a:ext cx="128016" cy="128016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4"/>
          <p:cNvSpPr/>
          <p:nvPr/>
        </p:nvSpPr>
        <p:spPr>
          <a:xfrm>
            <a:off x="7141464" y="314003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View all policies &amp; claims</a:t>
            </a:r>
            <a:endParaRPr lang="en-US" sz="950" dirty="0"/>
          </a:p>
        </p:txBody>
      </p:sp>
      <p:sp>
        <p:nvSpPr>
          <p:cNvPr id="62" name="Shape 55"/>
          <p:cNvSpPr/>
          <p:nvPr/>
        </p:nvSpPr>
        <p:spPr>
          <a:xfrm>
            <a:off x="6876288" y="3767328"/>
            <a:ext cx="128016" cy="128016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56"/>
          <p:cNvSpPr/>
          <p:nvPr/>
        </p:nvSpPr>
        <p:spPr>
          <a:xfrm>
            <a:off x="7148588" y="3627419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Full system oversight</a:t>
            </a:r>
            <a:endParaRPr lang="en-US" sz="950" dirty="0"/>
          </a:p>
        </p:txBody>
      </p:sp>
      <p:sp>
        <p:nvSpPr>
          <p:cNvPr id="64" name="Shape 5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15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2"/>
          <p:cNvSpPr/>
          <p:nvPr/>
        </p:nvSpPr>
        <p:spPr>
          <a:xfrm flipH="1">
            <a:off x="4471416" y="3526761"/>
            <a:ext cx="201168" cy="23454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2"/>
          <p:cNvSpPr/>
          <p:nvPr/>
        </p:nvSpPr>
        <p:spPr>
          <a:xfrm flipH="1">
            <a:off x="2264234" y="3526761"/>
            <a:ext cx="201168" cy="23454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Policy Request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Customer submits request → Agent reviews → Approval unlocks policy purchase.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078992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438912" cy="438912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74320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Customer Submits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2608" y="169164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Selects Plan, duration, frequency. Uploads PAN + Address Proof docs.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58568" y="1536192"/>
            <a:ext cx="173736" cy="1554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414016" y="1078992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487168" y="1188720"/>
            <a:ext cx="438912" cy="438912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487168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99232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SHA-256 Hash &amp; Blob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505456" y="169164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Backend hashes docs, uploads to Vercel Blob, stores URL in DB.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71416" y="1536192"/>
            <a:ext cx="173736" cy="1554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626864" y="1078992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700016" y="1188720"/>
            <a:ext cx="438912" cy="438912"/>
          </a:xfrm>
          <a:prstGeom prst="lin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700016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12080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Risk Score Calc.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18304" y="169164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System computes Risk Score using frequency, plan, duration etc.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684264" y="1536192"/>
            <a:ext cx="155448" cy="1325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839712" y="1078992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912864" y="1188720"/>
            <a:ext cx="438912" cy="438912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912864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424928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Agent Assignment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931152" y="169164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Request randomly assigned to an active Agent for underwriting.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01168" y="2971800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74320" y="3081528"/>
            <a:ext cx="438912" cy="438912"/>
          </a:xfrm>
          <a:prstGeom prst="line">
            <a:avLst/>
          </a:prstGeom>
          <a:solidFill>
            <a:srgbClr val="5D3A8A"/>
          </a:solidFill>
          <a:ln w="12700">
            <a:solidFill>
              <a:srgbClr val="5D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74320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86384" y="308152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Agent Reviews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92608" y="3584448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Agent views KYC docs via Vercel URLs, evaluates risk score.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414016" y="2971800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2487168" y="3081528"/>
            <a:ext cx="438912" cy="438912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2487168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2999232" y="308152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Approve / Reject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505456" y="3584448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Agent approves or rejects. Customer is notified via SignalR.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626864" y="2971800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4700016" y="3081528"/>
            <a:ext cx="438912" cy="438912"/>
          </a:xfrm>
          <a:prstGeom prst="line">
            <a:avLst/>
          </a:prstGeom>
          <a:solidFill>
            <a:srgbClr val="2E0F4E"/>
          </a:solidFill>
          <a:ln w="12700">
            <a:solidFill>
              <a:srgbClr val="2E0F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4700016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212080" y="308152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Purchase Enabled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718304" y="3584448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Approved request unlocks Policy Purchase for the customer with a buy now button.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0" y="3491634"/>
            <a:ext cx="201168" cy="23454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Policy Purchase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Once request is approved, customer finalizes purchase triggering snapshot, schedules, and invoices.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10896" y="1243584"/>
            <a:ext cx="402336" cy="402336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108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POST /policies/purchase/{requestId}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08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Customer calls purchase endpoint with approved request ID.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82696" y="1243584"/>
            <a:ext cx="402336" cy="402336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826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673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Plan Values Snapshotted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826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PlanBasePremiumAmount &amp; PlanBaseCoverageAmount copied into Policy — future plan edits don't affect this contract.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447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54496" y="1243584"/>
            <a:ext cx="402336" cy="402336"/>
          </a:xfrm>
          <a:prstGeom prst="lin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544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391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Coverage Calculation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544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CoverageAmount = BaseCoverage × (chosenMonths / planDefaultMonths).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11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10896" y="3118104"/>
            <a:ext cx="402336" cy="402336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108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55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Payment Schedule Created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108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PolicyPayment entities spawned for full term (Monthly / Quarterly / Yearly intervals).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1729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282696" y="3118104"/>
            <a:ext cx="402336" cy="402336"/>
          </a:xfrm>
          <a:prstGeom prst="line">
            <a:avLst/>
          </a:prstGeom>
          <a:solidFill>
            <a:srgbClr val="5D3A8A"/>
          </a:solidFill>
          <a:ln w="12700">
            <a:solidFill>
              <a:srgbClr val="5D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2826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7673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First Payment Auto-Paid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2826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First premium marked Paid instantly; funds registered in system.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447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6254496" y="3118104"/>
            <a:ext cx="402336" cy="402336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2544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7391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Async Invoice Generation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2544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Background worker generates Policy Confirmation PDF + Payment Receipt PDF via QuestPDF → uploaded to Vercel Blob.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Claim Processing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Customer files claim → automated vetting → ClaimOfficer investigates → settlement or rejection.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10896" y="1243584"/>
            <a:ext cx="402336" cy="402336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108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Customer Files Claim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08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Submits reason, evidence document, and requested ClaimAmount against an active policy.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82696" y="1243584"/>
            <a:ext cx="402336" cy="402336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826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673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Coverage Validation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826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System verifies ClaimAmount ≤ Policy CoverageAmount. Rejects out-of-bounds claims automatically.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447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54496" y="1243584"/>
            <a:ext cx="402336" cy="402336"/>
          </a:xfrm>
          <a:prstGeom prst="lin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544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391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Claims Officer Assignment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544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ClaimOfficer with lowest pending queue is selected — ensures even workload distribution.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11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10896" y="3118104"/>
            <a:ext cx="402336" cy="402336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108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55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Officer Investigates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108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Reviews reason, payment history snapshots, and evidence document before deciding.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1729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172968" y="2990088"/>
            <a:ext cx="2816352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3282696" y="3118104"/>
            <a:ext cx="402336" cy="402336"/>
          </a:xfrm>
          <a:prstGeom prst="lin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2826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7673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Approve → ClaimPayment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2826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Officer sets ApprovedAmount. ClaimPayment recorded. Settlement Invoice generated by QuestPDF.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447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144768" y="2990088"/>
            <a:ext cx="2816352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6254496" y="3118104"/>
            <a:ext cx="402336" cy="402336"/>
          </a:xfrm>
          <a:prstGeom prst="lin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2544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7391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Reject → Rejection Invoice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2544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State set to Rejected. Formal Rejection Invoice generated for legal consistency. Customer notified.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Key Technical Innovations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Engineering decisions that make this platform production-grade and maintainable.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01168" y="11155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26187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6968" y="12344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Plan Value Snapshotting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84048" y="17739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BasePremiumAmount &amp; BaseCoverageAmount copied into Policy at purchase — contracts immutable to future plan edits.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1729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172968" y="11155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26187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58768" y="12344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SHA-256 Document Integrity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355848" y="17739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Every KYC and claim document is hashed on upload. Hash stored in DB for forensic verification.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447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144768" y="11155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26187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30568" y="12344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Risk Score Engine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327648" y="17739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Computed from base volatility metric combined with chosen policy duration — drives agent underwriting decisions.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011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201168" y="29443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090672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6968" y="30632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smtClean="0">
                <a:solidFill>
                  <a:srgbClr val="1C0A3C"/>
                </a:solidFill>
              </a:rPr>
              <a:t>Least Queue Claim </a:t>
            </a:r>
            <a:r>
              <a:rPr lang="en-US" sz="1150" b="1" dirty="0">
                <a:solidFill>
                  <a:srgbClr val="1C0A3C"/>
                </a:solidFill>
              </a:rPr>
              <a:t>Routing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384048" y="36027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ClaimOfficers assigned by least-queue algorithm ensuring balanced workloads across all officers.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1729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3172968" y="29443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090672"/>
            <a:ext cx="402336" cy="4023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58768" y="30632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Async PDF Generation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3355848" y="36027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QuestPDF invoked via background service — decoupled from request lifecycle. Policy, payment, and claim invoices.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1447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6144768" y="29443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090672"/>
            <a:ext cx="402336" cy="40233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30568" y="30632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SignalR Real-Time Alerts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6327648" y="36027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WebSocket push notifications for every state transition — claim updates, payment confirmations, approvals.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2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105D1A9F-ECEB-8B70-3C0D-F73BB4F47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22" y="3092958"/>
            <a:ext cx="411480" cy="411480"/>
          </a:xfrm>
          <a:prstGeom prst="rect">
            <a:avLst/>
          </a:prstGeom>
        </p:spPr>
      </p:pic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0B30F530-24C1-2F60-152A-DCB99732B9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298448"/>
            <a:ext cx="320040" cy="320040"/>
          </a:xfrm>
          <a:prstGeom prst="rect">
            <a:avLst/>
          </a:prstGeom>
        </p:spPr>
      </p:pic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A45A7A61-FD5E-5709-F050-57DAE083C3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4136" y="1280160"/>
            <a:ext cx="402336" cy="4023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C21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line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837" y="610218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728" y="237929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</a:rPr>
              <a:t>THANK YOU !!</a:t>
            </a:r>
            <a:endParaRPr lang="en-US" sz="50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CC0"/>
                </a:solidFill>
              </a:rPr>
              <a:t>.NET 9  •  Angular 19  •  SQL Server  •  QuestPDF  •  Vercel Blob  •  SignalR  •  JWT Auth</a:t>
            </a:r>
            <a:endParaRPr lang="en-US" sz="1000" dirty="0"/>
          </a:p>
        </p:txBody>
      </p:sp>
      <p:sp>
        <p:nvSpPr>
          <p:cNvPr id="2" name="Rectangle 1"/>
          <p:cNvSpPr/>
          <p:nvPr/>
        </p:nvSpPr>
        <p:spPr>
          <a:xfrm>
            <a:off x="453339" y="3240421"/>
            <a:ext cx="82373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would like to express </a:t>
            </a:r>
            <a:r>
              <a:rPr lang="en-US" dirty="0" smtClean="0">
                <a:solidFill>
                  <a:schemeClr val="bg1"/>
                </a:solidFill>
              </a:rPr>
              <a:t>my sincere </a:t>
            </a:r>
            <a:r>
              <a:rPr lang="en-US" dirty="0">
                <a:solidFill>
                  <a:schemeClr val="bg1"/>
                </a:solidFill>
              </a:rPr>
              <a:t>gratitude to </a:t>
            </a:r>
            <a:r>
              <a:rPr lang="en-US" b="1" dirty="0" smtClean="0">
                <a:solidFill>
                  <a:schemeClr val="bg1"/>
                </a:solidFill>
              </a:rPr>
              <a:t>The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Hartford India , </a:t>
            </a:r>
            <a:r>
              <a:rPr lang="en-US" b="1" dirty="0">
                <a:solidFill>
                  <a:schemeClr val="bg1"/>
                </a:solidFill>
              </a:rPr>
              <a:t>GUVI, </a:t>
            </a:r>
            <a:r>
              <a:rPr lang="en-US" b="1" dirty="0" smtClean="0">
                <a:solidFill>
                  <a:schemeClr val="bg1"/>
                </a:solidFill>
              </a:rPr>
              <a:t>Surya, 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Ranjan </a:t>
            </a:r>
            <a:r>
              <a:rPr lang="en-US" b="1" dirty="0">
                <a:solidFill>
                  <a:schemeClr val="bg1"/>
                </a:solidFill>
              </a:rPr>
              <a:t>Bhatnagar, </a:t>
            </a:r>
            <a:r>
              <a:rPr lang="en-US" b="1" dirty="0" smtClean="0">
                <a:solidFill>
                  <a:schemeClr val="bg1"/>
                </a:solidFill>
              </a:rPr>
              <a:t>and </a:t>
            </a:r>
            <a:r>
              <a:rPr lang="en-US" b="1" dirty="0">
                <a:solidFill>
                  <a:schemeClr val="bg1"/>
                </a:solidFill>
              </a:rPr>
              <a:t>Koti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for </a:t>
            </a:r>
            <a:r>
              <a:rPr lang="en-US" dirty="0">
                <a:solidFill>
                  <a:schemeClr val="bg1"/>
                </a:solidFill>
              </a:rPr>
              <a:t>their valuable support, guidance, and encouragement </a:t>
            </a:r>
            <a:endParaRPr lang="en-US" dirty="0" smtClean="0">
              <a:solidFill>
                <a:schemeClr val="bg1"/>
              </a:solidFill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throughout the training and development of </a:t>
            </a:r>
            <a:r>
              <a:rPr lang="en-US" dirty="0">
                <a:solidFill>
                  <a:schemeClr val="bg1"/>
                </a:solidFill>
              </a:rPr>
              <a:t>this project. Their insights and resources </a:t>
            </a:r>
            <a:endParaRPr lang="en-US" dirty="0" smtClean="0">
              <a:solidFill>
                <a:schemeClr val="bg1"/>
              </a:solidFill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greatly contributed </a:t>
            </a:r>
            <a:r>
              <a:rPr lang="en-US" dirty="0">
                <a:solidFill>
                  <a:schemeClr val="bg1"/>
                </a:solidFill>
              </a:rPr>
              <a:t>to the successful completion of </a:t>
            </a:r>
            <a:r>
              <a:rPr lang="en-US" dirty="0" smtClean="0">
                <a:solidFill>
                  <a:schemeClr val="bg1"/>
                </a:solidFill>
              </a:rPr>
              <a:t>my work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1226</Words>
  <Application>Microsoft Office PowerPoint</Application>
  <PresentationFormat>On-screen Show (16:9)</PresentationFormat>
  <Paragraphs>250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Casualty &amp; Disaster Insurance Platform</dc:title>
  <dc:subject>PptxGenJS Presentation</dc:subject>
  <dc:creator>PptxGenJS</dc:creator>
  <cp:lastModifiedBy>DELL</cp:lastModifiedBy>
  <cp:revision>27</cp:revision>
  <dcterms:created xsi:type="dcterms:W3CDTF">2026-03-05T01:48:27Z</dcterms:created>
  <dcterms:modified xsi:type="dcterms:W3CDTF">2026-03-09T09:33:00Z</dcterms:modified>
</cp:coreProperties>
</file>