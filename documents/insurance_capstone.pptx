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4"/>
    <p:sldId id="259" r:id="rId5"/>
    <p:sldId id="260" r:id="rId6"/>
    <p:sldId id="267" r:id="rId7"/>
    <p:sldId id="262" r:id="rId8"/>
    <p:sldId id="263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73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53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67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5"/>
          <p:cNvSpPr/>
          <p:nvPr/>
        </p:nvSpPr>
        <p:spPr>
          <a:xfrm>
            <a:off x="7406640" y="245668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640080" y="3474720"/>
            <a:ext cx="2011680" cy="2011680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560320" y="91440"/>
            <a:ext cx="1645920" cy="1645920"/>
          </a:xfrm>
          <a:prstGeom prst="line">
            <a:avLst/>
          </a:prstGeom>
          <a:solidFill>
            <a:srgbClr val="7B2FBE">
              <a:alpha val="40000"/>
            </a:srgbClr>
          </a:solidFill>
          <a:ln w="12700">
            <a:solidFill>
              <a:srgbClr val="7B2FB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712902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386017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 smtClean="0">
                <a:solidFill>
                  <a:srgbClr val="FFFFFF"/>
                </a:solidFill>
              </a:rPr>
              <a:t>BY GOUTHAM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672" y="238658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DISASTER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60020" y="29489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INSURANCE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06240" y="5943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D4E75"/>
                </a:solidFill>
              </a:rPr>
              <a:t>Intelligent Digital Insurance System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4206240" y="1170432"/>
            <a:ext cx="4572000" cy="22860"/>
          </a:xfrm>
          <a:prstGeom prst="rect">
            <a:avLst/>
          </a:prstGeom>
          <a:solidFill>
            <a:srgbClr val="C39BD3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42062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42519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.NET 8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8521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Angular 21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066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74523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SQL Server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062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2519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AMBEE API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064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58521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Sandbox API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066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74523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QuestPDF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206240" y="2459736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425196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Verte</a:t>
            </a:r>
            <a:r>
              <a:rPr lang="en-US" sz="1100" b="1" dirty="0" smtClean="0">
                <a:solidFill>
                  <a:srgbClr val="1C0A3C"/>
                </a:solidFill>
              </a:rPr>
              <a:t>x AI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06240" y="3602736"/>
            <a:ext cx="4663440" cy="1124712"/>
          </a:xfrm>
          <a:prstGeom prst="rect">
            <a:avLst/>
          </a:prstGeom>
          <a:solidFill>
            <a:srgbClr val="EDE7F6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4343400" y="3717036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0A3C"/>
                </a:solidFill>
              </a:rPr>
              <a:t>Full-Stack Architecture Presentation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343400" y="4024468"/>
            <a:ext cx="4389120" cy="601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5D4E75"/>
                </a:solidFill>
              </a:rPr>
              <a:t>Clean Architecture  •  REST API  </a:t>
            </a:r>
            <a:r>
              <a:rPr lang="en-US" sz="1200" dirty="0">
                <a:solidFill>
                  <a:srgbClr val="5D4E75"/>
                </a:solidFill>
              </a:rPr>
              <a:t>•  </a:t>
            </a:r>
            <a:r>
              <a:rPr lang="en-US" sz="1200" dirty="0" smtClean="0">
                <a:solidFill>
                  <a:srgbClr val="5D4E75"/>
                </a:solidFill>
              </a:rPr>
              <a:t>N8N  </a:t>
            </a:r>
            <a:r>
              <a:rPr lang="en-US" sz="1200" dirty="0">
                <a:solidFill>
                  <a:srgbClr val="5D4E75"/>
                </a:solidFill>
              </a:rPr>
              <a:t>•  </a:t>
            </a:r>
            <a:r>
              <a:rPr lang="en-US" sz="1200" dirty="0" smtClean="0">
                <a:solidFill>
                  <a:srgbClr val="5D4E75"/>
                </a:solidFill>
              </a:rPr>
              <a:t>Vertex AI </a:t>
            </a:r>
            <a:r>
              <a:rPr lang="en-US" sz="1200" dirty="0">
                <a:solidFill>
                  <a:srgbClr val="5D4E75"/>
                </a:solidFill>
              </a:rPr>
              <a:t>
Role-Based Access  •  Cloud Storage  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32" name="Shape 21"/>
          <p:cNvSpPr/>
          <p:nvPr/>
        </p:nvSpPr>
        <p:spPr>
          <a:xfrm>
            <a:off x="5806440" y="2459736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ctr"/>
            <a:endParaRPr lang="en-US" sz="1100" dirty="0"/>
          </a:p>
        </p:txBody>
      </p:sp>
      <p:sp>
        <p:nvSpPr>
          <p:cNvPr id="33" name="Text 22"/>
          <p:cNvSpPr/>
          <p:nvPr/>
        </p:nvSpPr>
        <p:spPr>
          <a:xfrm>
            <a:off x="587502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Razorpay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45236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Ringg AI</a:t>
            </a:r>
            <a:endParaRPr lang="en-US" sz="1100" dirty="0"/>
          </a:p>
        </p:txBody>
      </p:sp>
      <p:sp>
        <p:nvSpPr>
          <p:cNvPr id="36" name="Shape 15"/>
          <p:cNvSpPr/>
          <p:nvPr/>
        </p:nvSpPr>
        <p:spPr>
          <a:xfrm>
            <a:off x="7406640" y="2996184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21"/>
          <p:cNvSpPr/>
          <p:nvPr/>
        </p:nvSpPr>
        <p:spPr>
          <a:xfrm>
            <a:off x="4206240" y="2999232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Text 22"/>
          <p:cNvSpPr/>
          <p:nvPr/>
        </p:nvSpPr>
        <p:spPr>
          <a:xfrm>
            <a:off x="4251960" y="2999232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Vercel Blob</a:t>
            </a:r>
            <a:endParaRPr lang="en-US" sz="1100" dirty="0"/>
          </a:p>
        </p:txBody>
      </p:sp>
      <p:sp>
        <p:nvSpPr>
          <p:cNvPr id="39" name="Shape 21"/>
          <p:cNvSpPr/>
          <p:nvPr/>
        </p:nvSpPr>
        <p:spPr>
          <a:xfrm>
            <a:off x="5806440" y="2999232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ctr"/>
            <a:endParaRPr lang="en-US" sz="1100" dirty="0"/>
          </a:p>
        </p:txBody>
      </p:sp>
      <p:sp>
        <p:nvSpPr>
          <p:cNvPr id="40" name="Text 22"/>
          <p:cNvSpPr/>
          <p:nvPr/>
        </p:nvSpPr>
        <p:spPr>
          <a:xfrm>
            <a:off x="5875020" y="2999232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Agora SDK</a:t>
            </a:r>
            <a:endParaRPr lang="en-US" sz="1100" dirty="0"/>
          </a:p>
        </p:txBody>
      </p:sp>
      <p:sp>
        <p:nvSpPr>
          <p:cNvPr id="41" name="Text 22"/>
          <p:cNvSpPr/>
          <p:nvPr/>
        </p:nvSpPr>
        <p:spPr>
          <a:xfrm>
            <a:off x="7452360" y="2999232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N8N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Problem Statement — Traditional Insurance Challenges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Legacy insurance systems are plagued with inefficiency, opacity, and manual bottlenecks.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8600" y="1078992"/>
            <a:ext cx="2743200" cy="1946969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28600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" y="1426464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92124" y="1426464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Manual Claim Processing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06908" y="1833877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Claims processed by hand, causing delays of days or weeks. No automated validation or routing.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182112" y="1078992"/>
            <a:ext cx="2743200" cy="19431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82112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0"/>
          <p:cNvSpPr/>
          <p:nvPr/>
        </p:nvSpPr>
        <p:spPr>
          <a:xfrm>
            <a:off x="4027932" y="1425057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Slow Policy Approvals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319272" y="181051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Manual policy review and agent assignment leads to approval backlogs and poor customer experience.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135624" y="1078992"/>
            <a:ext cx="2743200" cy="1946969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35624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1453896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26052" y="14218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Lack of Transparency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272784" y="181051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Customers have no visibility into claim status, payment schedules, or policy details in real time.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246608" y="3351275"/>
            <a:ext cx="4224528" cy="114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 flipV="1">
            <a:off x="246608" y="3305556"/>
            <a:ext cx="4224528" cy="45719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42" y="3533100"/>
            <a:ext cx="331294" cy="33129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04976" y="3487732"/>
            <a:ext cx="33832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Poor Document Management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383768" y="3909059"/>
            <a:ext cx="3950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Physical or siloed document storage causes loss, duplication, and version conflicts.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4699736" y="3351275"/>
            <a:ext cx="4224528" cy="114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 flipV="1">
            <a:off x="4699736" y="3305556"/>
            <a:ext cx="4224528" cy="45719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480" y="3520439"/>
            <a:ext cx="374904" cy="374904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394680" y="3483863"/>
            <a:ext cx="33832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No Real-Time Notifications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836896" y="3909059"/>
            <a:ext cx="3950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No instant alerts for critical events — customers discover updates only through manual follow-up.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5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1421892"/>
            <a:ext cx="502920" cy="502920"/>
          </a:xfrm>
          <a:prstGeom prst="rect">
            <a:avLst/>
          </a:prstGeom>
        </p:spPr>
      </p:pic>
      <p:pic>
        <p:nvPicPr>
          <p:cNvPr id="34" name="Image 4" descr="preencoded.png">
            <a:extLst>
              <a:ext uri="{FF2B5EF4-FFF2-40B4-BE49-F238E27FC236}">
                <a16:creationId xmlns:a16="http://schemas.microsoft.com/office/drawing/2014/main" id="{4B544ADB-68C5-CE13-2C5E-1D32A2858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6016" y="1497769"/>
            <a:ext cx="415173" cy="4151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Key Technical </a:t>
            </a:r>
            <a:r>
              <a:rPr lang="en-US" sz="2600" b="1" dirty="0" smtClean="0">
                <a:solidFill>
                  <a:srgbClr val="1C0A3C"/>
                </a:solidFill>
              </a:rPr>
              <a:t>Innovations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Engineering decisions that make this platform production-grade and maintainable.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115568"/>
            <a:ext cx="100584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" y="126187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8912" y="1204512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KYC Verification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41022" y="1458552"/>
            <a:ext cx="2523744" cy="819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Sand box api for pan and aadhaar verification.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172968" y="1115568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72968" y="1115568"/>
            <a:ext cx="82296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1261872"/>
            <a:ext cx="402336" cy="40233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144768" y="1115568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44768" y="1115568"/>
            <a:ext cx="91440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4"/>
          <p:cNvSpPr/>
          <p:nvPr/>
        </p:nvSpPr>
        <p:spPr>
          <a:xfrm>
            <a:off x="6327648" y="1197415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Agora SDK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327648" y="1615683"/>
            <a:ext cx="2523744" cy="494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S</a:t>
            </a:r>
            <a:r>
              <a:rPr lang="en-US" sz="1000" dirty="0" smtClean="0"/>
              <a:t>cheduled </a:t>
            </a:r>
            <a:r>
              <a:rPr lang="en-US" sz="1000" dirty="0"/>
              <a:t>video verification using the Agora SDK</a:t>
            </a:r>
            <a:r>
              <a:rPr lang="en-US" sz="1000" dirty="0" smtClean="0"/>
              <a:t>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201168" y="3602736"/>
            <a:ext cx="281635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>
            <a:off x="201168" y="3602736"/>
            <a:ext cx="91440" cy="10058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090672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35994" y="3612833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Least Queue Claim </a:t>
            </a:r>
            <a:r>
              <a:rPr lang="en-US" sz="1150" b="1" dirty="0">
                <a:solidFill>
                  <a:srgbClr val="1C0A3C"/>
                </a:solidFill>
              </a:rPr>
              <a:t>Routing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433513" y="3887434"/>
            <a:ext cx="2523744" cy="7211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Claims Officers and Agents assigned </a:t>
            </a:r>
            <a:r>
              <a:rPr lang="en-US" sz="1000" dirty="0">
                <a:solidFill>
                  <a:srgbClr val="5D4E75"/>
                </a:solidFill>
              </a:rPr>
              <a:t>by least-queue algorithm ensuring balanced workloads across all officers.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172968" y="3602736"/>
            <a:ext cx="281635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>
            <a:off x="3172968" y="3602736"/>
            <a:ext cx="91440" cy="10058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2"/>
          <p:cNvSpPr/>
          <p:nvPr/>
        </p:nvSpPr>
        <p:spPr>
          <a:xfrm>
            <a:off x="3377491" y="3684948"/>
            <a:ext cx="2153833" cy="432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 smtClean="0">
                <a:solidFill>
                  <a:srgbClr val="1C0A3C"/>
                </a:solidFill>
              </a:rPr>
              <a:t>PDF Generation &amp; </a:t>
            </a:r>
            <a:r>
              <a:rPr lang="en-US" sz="1200" b="1" dirty="0" smtClean="0">
                <a:solidFill>
                  <a:srgbClr val="1C0A3C"/>
                </a:solidFill>
              </a:rPr>
              <a:t>B</a:t>
            </a:r>
            <a:r>
              <a:rPr lang="en-US" sz="1200" b="1" dirty="0" smtClean="0">
                <a:solidFill>
                  <a:srgbClr val="1C0A3C"/>
                </a:solidFill>
              </a:rPr>
              <a:t>lob Storage</a:t>
            </a:r>
            <a:endParaRPr lang="en-US" sz="1200" dirty="0"/>
          </a:p>
          <a:p>
            <a:pPr marL="0" indent="0">
              <a:buNone/>
            </a:pP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3384335" y="3882862"/>
            <a:ext cx="2523744" cy="661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QuestPDF is invoked via a background </a:t>
            </a:r>
            <a:r>
              <a:rPr lang="en-US" sz="1000" dirty="0" smtClean="0"/>
              <a:t>service - to </a:t>
            </a:r>
            <a:r>
              <a:rPr lang="en-US" sz="1000" dirty="0"/>
              <a:t>generate policy, payment, and claim invoices.</a:t>
            </a:r>
          </a:p>
        </p:txBody>
      </p:sp>
      <p:sp>
        <p:nvSpPr>
          <p:cNvPr id="32" name="Shape 24"/>
          <p:cNvSpPr/>
          <p:nvPr/>
        </p:nvSpPr>
        <p:spPr>
          <a:xfrm>
            <a:off x="6144768" y="3602736"/>
            <a:ext cx="281635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25"/>
          <p:cNvSpPr/>
          <p:nvPr/>
        </p:nvSpPr>
        <p:spPr>
          <a:xfrm>
            <a:off x="6144768" y="3602736"/>
            <a:ext cx="91440" cy="10058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26"/>
          <p:cNvSpPr/>
          <p:nvPr/>
        </p:nvSpPr>
        <p:spPr>
          <a:xfrm>
            <a:off x="6327648" y="3610646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N8N Mail &amp; Razorpay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6336792" y="3845753"/>
            <a:ext cx="2523744" cy="5186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An automated email is triggered via an n8n workflow whenever a policy is purchased.</a:t>
            </a:r>
          </a:p>
        </p:txBody>
      </p:sp>
      <p:sp>
        <p:nvSpPr>
          <p:cNvPr id="37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29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43" name="Shape 4"/>
          <p:cNvSpPr/>
          <p:nvPr/>
        </p:nvSpPr>
        <p:spPr>
          <a:xfrm>
            <a:off x="201168" y="2339574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Shape 5"/>
          <p:cNvSpPr/>
          <p:nvPr/>
        </p:nvSpPr>
        <p:spPr>
          <a:xfrm>
            <a:off x="201168" y="2339574"/>
            <a:ext cx="100584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" y="2485878"/>
            <a:ext cx="402336" cy="402336"/>
          </a:xfrm>
          <a:prstGeom prst="rect">
            <a:avLst/>
          </a:prstGeom>
        </p:spPr>
      </p:pic>
      <p:sp>
        <p:nvSpPr>
          <p:cNvPr id="47" name="Text 6"/>
          <p:cNvSpPr/>
          <p:nvPr/>
        </p:nvSpPr>
        <p:spPr>
          <a:xfrm>
            <a:off x="441022" y="2382826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Plan Value Snapshotting</a:t>
            </a:r>
            <a:endParaRPr lang="en-US" sz="1150" dirty="0"/>
          </a:p>
        </p:txBody>
      </p:sp>
      <p:sp>
        <p:nvSpPr>
          <p:cNvPr id="48" name="Text 7"/>
          <p:cNvSpPr/>
          <p:nvPr/>
        </p:nvSpPr>
        <p:spPr>
          <a:xfrm>
            <a:off x="441022" y="2682558"/>
            <a:ext cx="2523744" cy="819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BasePremiumAmount </a:t>
            </a:r>
            <a:r>
              <a:rPr lang="en-US" sz="1000" dirty="0" smtClean="0">
                <a:solidFill>
                  <a:srgbClr val="5D4E75"/>
                </a:solidFill>
              </a:rPr>
              <a:t>&amp; BaseCoverageAmount </a:t>
            </a:r>
            <a:r>
              <a:rPr lang="en-US" sz="1000" dirty="0">
                <a:solidFill>
                  <a:srgbClr val="5D4E75"/>
                </a:solidFill>
              </a:rPr>
              <a:t>copied into Policy at purchase </a:t>
            </a:r>
            <a:r>
              <a:rPr lang="en-US" sz="1000" dirty="0" smtClean="0">
                <a:solidFill>
                  <a:srgbClr val="5D4E75"/>
                </a:solidFill>
              </a:rPr>
              <a:t>- </a:t>
            </a:r>
            <a:r>
              <a:rPr lang="en-US" sz="1000" dirty="0" smtClean="0">
                <a:solidFill>
                  <a:srgbClr val="5D4E75"/>
                </a:solidFill>
              </a:rPr>
              <a:t>immutable </a:t>
            </a:r>
            <a:r>
              <a:rPr lang="en-US" sz="1000" dirty="0">
                <a:solidFill>
                  <a:srgbClr val="5D4E75"/>
                </a:solidFill>
              </a:rPr>
              <a:t>to future plan edits.</a:t>
            </a:r>
            <a:endParaRPr lang="en-US" sz="1000" dirty="0"/>
          </a:p>
        </p:txBody>
      </p:sp>
      <p:sp>
        <p:nvSpPr>
          <p:cNvPr id="49" name="Shape 8"/>
          <p:cNvSpPr/>
          <p:nvPr/>
        </p:nvSpPr>
        <p:spPr>
          <a:xfrm>
            <a:off x="3172968" y="2339574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0" name="Shape 9"/>
          <p:cNvSpPr/>
          <p:nvPr/>
        </p:nvSpPr>
        <p:spPr>
          <a:xfrm>
            <a:off x="3172968" y="2339574"/>
            <a:ext cx="82296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2485878"/>
            <a:ext cx="402336" cy="402336"/>
          </a:xfrm>
          <a:prstGeom prst="rect">
            <a:avLst/>
          </a:prstGeom>
        </p:spPr>
      </p:pic>
      <p:sp>
        <p:nvSpPr>
          <p:cNvPr id="52" name="Shape 12"/>
          <p:cNvSpPr/>
          <p:nvPr/>
        </p:nvSpPr>
        <p:spPr>
          <a:xfrm>
            <a:off x="6144768" y="2339574"/>
            <a:ext cx="2816352" cy="111427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Shape 13"/>
          <p:cNvSpPr/>
          <p:nvPr/>
        </p:nvSpPr>
        <p:spPr>
          <a:xfrm>
            <a:off x="6144768" y="2339574"/>
            <a:ext cx="91440" cy="111427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14"/>
          <p:cNvSpPr/>
          <p:nvPr/>
        </p:nvSpPr>
        <p:spPr>
          <a:xfrm>
            <a:off x="6327648" y="2434352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/>
              <a:t>Ringg AI</a:t>
            </a:r>
            <a:endParaRPr lang="en-US" sz="1150" b="1" dirty="0"/>
          </a:p>
        </p:txBody>
      </p:sp>
      <p:sp>
        <p:nvSpPr>
          <p:cNvPr id="56" name="Text 15"/>
          <p:cNvSpPr/>
          <p:nvPr/>
        </p:nvSpPr>
        <p:spPr>
          <a:xfrm>
            <a:off x="6327648" y="2839689"/>
            <a:ext cx="2523744" cy="3045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 smtClean="0"/>
              <a:t>AI agen</a:t>
            </a:r>
            <a:r>
              <a:rPr lang="en-US" sz="1000" dirty="0" smtClean="0"/>
              <a:t>t call for customer to explain plans.</a:t>
            </a:r>
            <a:endParaRPr lang="en-US" sz="1000" dirty="0"/>
          </a:p>
        </p:txBody>
      </p:sp>
      <p:sp>
        <p:nvSpPr>
          <p:cNvPr id="59" name="Text 6"/>
          <p:cNvSpPr/>
          <p:nvPr/>
        </p:nvSpPr>
        <p:spPr>
          <a:xfrm>
            <a:off x="3374136" y="1204512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/>
              <a:t>Ambee API</a:t>
            </a:r>
            <a:endParaRPr lang="en-US" sz="1150" b="1" dirty="0"/>
          </a:p>
        </p:txBody>
      </p:sp>
      <p:sp>
        <p:nvSpPr>
          <p:cNvPr id="60" name="Text 7"/>
          <p:cNvSpPr/>
          <p:nvPr/>
        </p:nvSpPr>
        <p:spPr>
          <a:xfrm>
            <a:off x="3364992" y="1539614"/>
            <a:ext cx="2523744" cy="502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Disaster and location verification</a:t>
            </a:r>
            <a:endParaRPr lang="en-US" sz="1000" dirty="0"/>
          </a:p>
        </p:txBody>
      </p:sp>
      <p:sp>
        <p:nvSpPr>
          <p:cNvPr id="61" name="Text 6"/>
          <p:cNvSpPr/>
          <p:nvPr/>
        </p:nvSpPr>
        <p:spPr>
          <a:xfrm>
            <a:off x="3374136" y="2434352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/>
              <a:t>Vertex AI</a:t>
            </a:r>
            <a:endParaRPr lang="en-US" sz="1150" b="1" dirty="0"/>
          </a:p>
        </p:txBody>
      </p:sp>
      <p:sp>
        <p:nvSpPr>
          <p:cNvPr id="62" name="Text 15"/>
          <p:cNvSpPr/>
          <p:nvPr/>
        </p:nvSpPr>
        <p:spPr>
          <a:xfrm>
            <a:off x="3384335" y="2812594"/>
            <a:ext cx="2523744" cy="331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 smtClean="0"/>
              <a:t>Claim summary and chatbot.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System Architecture — Clean Architecture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Four-layer architecture with strict dependency inversion — outer layers depend on inner ones.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51560"/>
            <a:ext cx="8595360" cy="7315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38912" y="108813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Presentation Layer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8912" y="140817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Angular 21 SPA  •  .NET 8 Web API Controllers  •  JWT Auth Middleware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04672" y="195681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Application Layer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4672" y="22768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DTOs  •  Services  • Interfaces  •  Business Orchestration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170432" y="28254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Infrastructure Layer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70432" y="314553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Repositories  • Vercel Blob  •  </a:t>
            </a:r>
            <a:r>
              <a:rPr lang="en-US" sz="1000" dirty="0" smtClean="0">
                <a:solidFill>
                  <a:srgbClr val="DDCCEE"/>
                </a:solidFill>
              </a:rPr>
              <a:t>QuestPDF</a:t>
            </a:r>
            <a:r>
              <a:rPr lang="en-US" sz="1000" dirty="0">
                <a:solidFill>
                  <a:srgbClr val="DDCCEE"/>
                </a:solidFill>
              </a:rPr>
              <a:t> </a:t>
            </a:r>
            <a:r>
              <a:rPr lang="en-US" sz="1000" dirty="0" smtClean="0">
                <a:solidFill>
                  <a:srgbClr val="DDCCEE"/>
                </a:solidFill>
              </a:rPr>
              <a:t> •  Agora SDK •  </a:t>
            </a:r>
            <a:r>
              <a:rPr lang="en-US" sz="1000" dirty="0">
                <a:solidFill>
                  <a:srgbClr val="DDCCEE"/>
                </a:solidFill>
              </a:rPr>
              <a:t>SignalR  •  SQL Server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1536192" y="369417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Domain Layer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536192" y="4014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Entities  •  Enums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Modern, cloud-native technologies chosen for scalability, security, and developer productivity.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078992"/>
            <a:ext cx="2084832" cy="45720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92608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Frontend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8328" y="1737360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548640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Angular 21 (SPA)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8328" y="2249424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548640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TypeScript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" y="2761488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48640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Tailwind CSS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423160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8"/>
          <p:cNvSpPr/>
          <p:nvPr/>
        </p:nvSpPr>
        <p:spPr>
          <a:xfrm>
            <a:off x="2423160" y="1078992"/>
            <a:ext cx="2084832" cy="457200"/>
          </a:xfrm>
          <a:prstGeom prst="rect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2514600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Backend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560320" y="1737360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2770632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.NET 8 Web API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560320" y="2249424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2770632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Clean Architecture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560320" y="2761488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2770632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Entity Framework Core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560320" y="3273552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70632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JWT Bearer Auth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560320" y="3785616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770632" y="3712464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Quest PDF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45152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4645152" y="1078992"/>
            <a:ext cx="2084832" cy="45720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4736592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782312" y="1737360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4992624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SQL Server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782312" y="2249424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6"/>
          <p:cNvSpPr/>
          <p:nvPr/>
        </p:nvSpPr>
        <p:spPr>
          <a:xfrm>
            <a:off x="4992624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EF Core Migrations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4782312" y="2761488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8"/>
          <p:cNvSpPr/>
          <p:nvPr/>
        </p:nvSpPr>
        <p:spPr>
          <a:xfrm>
            <a:off x="4992624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Soft Delete Pattern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5010912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Relational Schema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867144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6867144" y="1078992"/>
            <a:ext cx="2084832" cy="45720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6958584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External Services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7004304" y="173736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7"/>
          <p:cNvSpPr/>
          <p:nvPr/>
        </p:nvSpPr>
        <p:spPr>
          <a:xfrm>
            <a:off x="7214616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Vercel Blob Storage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7004304" y="2249424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9"/>
          <p:cNvSpPr/>
          <p:nvPr/>
        </p:nvSpPr>
        <p:spPr>
          <a:xfrm>
            <a:off x="7214616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Vertex AI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7004304" y="2761488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1"/>
          <p:cNvSpPr/>
          <p:nvPr/>
        </p:nvSpPr>
        <p:spPr>
          <a:xfrm>
            <a:off x="7214616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Agora SDK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7004697" y="327797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1"/>
          <p:cNvSpPr/>
          <p:nvPr/>
        </p:nvSpPr>
        <p:spPr>
          <a:xfrm>
            <a:off x="7210184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N8N based </a:t>
            </a:r>
            <a:r>
              <a:rPr lang="en-US" sz="1050" dirty="0"/>
              <a:t>m</a:t>
            </a:r>
            <a:r>
              <a:rPr lang="en-US" sz="1050" dirty="0" smtClean="0"/>
              <a:t>ail service</a:t>
            </a:r>
            <a:endParaRPr lang="en-US" sz="1050" dirty="0"/>
          </a:p>
        </p:txBody>
      </p:sp>
      <p:sp>
        <p:nvSpPr>
          <p:cNvPr id="57" name="Shape 26"/>
          <p:cNvSpPr/>
          <p:nvPr/>
        </p:nvSpPr>
        <p:spPr>
          <a:xfrm>
            <a:off x="4788455" y="3279648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0"/>
          <p:cNvSpPr/>
          <p:nvPr/>
        </p:nvSpPr>
        <p:spPr>
          <a:xfrm>
            <a:off x="7009129" y="3790034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1"/>
          <p:cNvSpPr/>
          <p:nvPr/>
        </p:nvSpPr>
        <p:spPr>
          <a:xfrm>
            <a:off x="7214616" y="3712464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Ambe</a:t>
            </a:r>
            <a:r>
              <a:rPr lang="en-US" sz="1050" dirty="0" smtClean="0"/>
              <a:t>e api</a:t>
            </a:r>
            <a:endParaRPr lang="en-US" sz="1050" dirty="0"/>
          </a:p>
        </p:txBody>
      </p:sp>
      <p:sp>
        <p:nvSpPr>
          <p:cNvPr id="64" name="Shape 50"/>
          <p:cNvSpPr/>
          <p:nvPr/>
        </p:nvSpPr>
        <p:spPr>
          <a:xfrm>
            <a:off x="7009129" y="423938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51"/>
          <p:cNvSpPr/>
          <p:nvPr/>
        </p:nvSpPr>
        <p:spPr>
          <a:xfrm>
            <a:off x="7214616" y="416181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Razorpay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73152" cy="507034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3152" y="73152"/>
            <a:ext cx="9070848" cy="777240"/>
          </a:xfrm>
          <a:prstGeom prst="rect">
            <a:avLst/>
          </a:prstGeom>
          <a:solidFill>
            <a:srgbClr val="F8F5FF"/>
          </a:solidFill>
          <a:ln w="12700">
            <a:solidFill>
              <a:srgbClr val="F8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828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14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B4B"/>
                </a:solidFill>
              </a:rPr>
              <a:t>Role-Based Access Control — 4 System Roles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8288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6C3FC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182880" y="1234440"/>
            <a:ext cx="2011680" cy="1005840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1389888"/>
            <a:ext cx="393192" cy="393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Customer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92608" y="2313432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0"/>
          <p:cNvSpPr/>
          <p:nvPr/>
        </p:nvSpPr>
        <p:spPr>
          <a:xfrm>
            <a:off x="548640" y="216712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Send policy requests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92608" y="2798064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2"/>
          <p:cNvSpPr/>
          <p:nvPr/>
        </p:nvSpPr>
        <p:spPr>
          <a:xfrm>
            <a:off x="548640" y="26563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Pay premium installments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292608" y="3282696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/>
          <p:nvPr/>
        </p:nvSpPr>
        <p:spPr>
          <a:xfrm>
            <a:off x="557784" y="3145536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Submit insurance claims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292608" y="3767328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548640" y="36210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View own invoices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292608" y="4251960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8"/>
          <p:cNvSpPr/>
          <p:nvPr/>
        </p:nvSpPr>
        <p:spPr>
          <a:xfrm>
            <a:off x="548640" y="4107647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Receive notifications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237744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E57C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0"/>
          <p:cNvSpPr/>
          <p:nvPr/>
        </p:nvSpPr>
        <p:spPr>
          <a:xfrm>
            <a:off x="2377440" y="1234440"/>
            <a:ext cx="2011680" cy="1005840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1256" y="1389888"/>
            <a:ext cx="393192" cy="39319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37744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2487168" y="2313432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4"/>
          <p:cNvSpPr/>
          <p:nvPr/>
        </p:nvSpPr>
        <p:spPr>
          <a:xfrm>
            <a:off x="2743200" y="2172009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Accept/Reject policy requests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2487168" y="2798064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6"/>
          <p:cNvSpPr/>
          <p:nvPr/>
        </p:nvSpPr>
        <p:spPr>
          <a:xfrm>
            <a:off x="2743200" y="26563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Monitor payment status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2487168" y="3282696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8"/>
          <p:cNvSpPr/>
          <p:nvPr/>
        </p:nvSpPr>
        <p:spPr>
          <a:xfrm>
            <a:off x="2752344" y="31638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Auto-assigned on request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2487168" y="3767328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0"/>
          <p:cNvSpPr/>
          <p:nvPr/>
        </p:nvSpPr>
        <p:spPr>
          <a:xfrm>
            <a:off x="2743200" y="363016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Least-busy algorithm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457200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89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2"/>
          <p:cNvSpPr/>
          <p:nvPr/>
        </p:nvSpPr>
        <p:spPr>
          <a:xfrm>
            <a:off x="4572000" y="1234440"/>
            <a:ext cx="2011680" cy="1005840"/>
          </a:xfrm>
          <a:prstGeom prst="rect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5816" y="1389888"/>
            <a:ext cx="393192" cy="393192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457200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Claim Officer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4681728" y="2313432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6"/>
          <p:cNvSpPr/>
          <p:nvPr/>
        </p:nvSpPr>
        <p:spPr>
          <a:xfrm>
            <a:off x="4919472" y="217167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smtClean="0">
                <a:solidFill>
                  <a:srgbClr val="1E1B4B"/>
                </a:solidFill>
              </a:rPr>
              <a:t>Verify </a:t>
            </a:r>
            <a:r>
              <a:rPr lang="en-US" sz="950" dirty="0">
                <a:solidFill>
                  <a:srgbClr val="1E1B4B"/>
                </a:solidFill>
              </a:rPr>
              <a:t>assigned claims</a:t>
            </a:r>
            <a:endParaRPr 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4681728" y="2798064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38"/>
          <p:cNvSpPr/>
          <p:nvPr/>
        </p:nvSpPr>
        <p:spPr>
          <a:xfrm>
            <a:off x="4919472" y="264718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Approve with payout amount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4681728" y="3282696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0"/>
          <p:cNvSpPr/>
          <p:nvPr/>
        </p:nvSpPr>
        <p:spPr>
          <a:xfrm>
            <a:off x="4919472" y="3145536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Reject claims</a:t>
            </a:r>
            <a:endParaRPr lang="en-US" sz="950" dirty="0"/>
          </a:p>
        </p:txBody>
      </p:sp>
      <p:sp>
        <p:nvSpPr>
          <p:cNvPr id="47" name="Shape 41"/>
          <p:cNvSpPr/>
          <p:nvPr/>
        </p:nvSpPr>
        <p:spPr>
          <a:xfrm>
            <a:off x="4681728" y="3767328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2"/>
          <p:cNvSpPr/>
          <p:nvPr/>
        </p:nvSpPr>
        <p:spPr>
          <a:xfrm>
            <a:off x="4919472" y="36210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Auto-assigned on claim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4681728" y="4251960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4"/>
          <p:cNvSpPr/>
          <p:nvPr/>
        </p:nvSpPr>
        <p:spPr>
          <a:xfrm>
            <a:off x="4919472" y="411937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Generate status invoices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676656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1B4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2" name="Shape 46"/>
          <p:cNvSpPr/>
          <p:nvPr/>
        </p:nvSpPr>
        <p:spPr>
          <a:xfrm>
            <a:off x="6766560" y="1234440"/>
            <a:ext cx="2011680" cy="100584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76" y="1389888"/>
            <a:ext cx="393192" cy="393192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676656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Admin</a:t>
            </a:r>
            <a:endParaRPr lang="en-US" sz="1300" dirty="0"/>
          </a:p>
        </p:txBody>
      </p:sp>
      <p:sp>
        <p:nvSpPr>
          <p:cNvPr id="56" name="Shape 49"/>
          <p:cNvSpPr/>
          <p:nvPr/>
        </p:nvSpPr>
        <p:spPr>
          <a:xfrm>
            <a:off x="6876288" y="2313432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0"/>
          <p:cNvSpPr/>
          <p:nvPr/>
        </p:nvSpPr>
        <p:spPr>
          <a:xfrm>
            <a:off x="7141464" y="218084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Manage all users &amp; roles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6876288" y="2798064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2"/>
          <p:cNvSpPr/>
          <p:nvPr/>
        </p:nvSpPr>
        <p:spPr>
          <a:xfrm>
            <a:off x="7141464" y="264718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Create/update/deactivate plans</a:t>
            </a:r>
            <a:endParaRPr lang="en-US" sz="950" dirty="0"/>
          </a:p>
        </p:txBody>
      </p:sp>
      <p:sp>
        <p:nvSpPr>
          <p:cNvPr id="60" name="Shape 53"/>
          <p:cNvSpPr/>
          <p:nvPr/>
        </p:nvSpPr>
        <p:spPr>
          <a:xfrm>
            <a:off x="6876288" y="3282696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4"/>
          <p:cNvSpPr/>
          <p:nvPr/>
        </p:nvSpPr>
        <p:spPr>
          <a:xfrm>
            <a:off x="7141464" y="314003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View all policies &amp; claims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6876288" y="3767328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56"/>
          <p:cNvSpPr/>
          <p:nvPr/>
        </p:nvSpPr>
        <p:spPr>
          <a:xfrm>
            <a:off x="7148588" y="3627419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Full system oversight</a:t>
            </a:r>
            <a:endParaRPr lang="en-US" sz="950" dirty="0"/>
          </a:p>
        </p:txBody>
      </p:sp>
      <p:sp>
        <p:nvSpPr>
          <p:cNvPr id="64" name="Shape 5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5154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2"/>
          <p:cNvSpPr/>
          <p:nvPr/>
        </p:nvSpPr>
        <p:spPr>
          <a:xfrm flipH="1">
            <a:off x="4471416" y="3526761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2"/>
          <p:cNvSpPr/>
          <p:nvPr/>
        </p:nvSpPr>
        <p:spPr>
          <a:xfrm flipH="1">
            <a:off x="2264234" y="3526761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Policy Request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Customer submits request → Agent reviews → Approval unlocks policy purchase.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438912" cy="438912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7432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Customer Submits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92608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Selects Plan, duration, frequency. Uploads PAN + Address Proof docs.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58568" y="1536192"/>
            <a:ext cx="173736" cy="1554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414016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2487168" y="1188720"/>
            <a:ext cx="438912" cy="438912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2487168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99232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SHA-256 Hash &amp; Blob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05456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Backend hashes docs, uploads to Vercel Blob, stores URL in DB.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471416" y="1536192"/>
            <a:ext cx="173736" cy="1554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4626864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7"/>
          <p:cNvSpPr/>
          <p:nvPr/>
        </p:nvSpPr>
        <p:spPr>
          <a:xfrm>
            <a:off x="4700016" y="1188720"/>
            <a:ext cx="438912" cy="438912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4700016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212080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Risk Score Calc.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718304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System computes Risk Score using frequency, plan, duration etc.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84264" y="1536192"/>
            <a:ext cx="155448" cy="13258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2"/>
          <p:cNvSpPr/>
          <p:nvPr/>
        </p:nvSpPr>
        <p:spPr>
          <a:xfrm>
            <a:off x="6839712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3"/>
          <p:cNvSpPr/>
          <p:nvPr/>
        </p:nvSpPr>
        <p:spPr>
          <a:xfrm>
            <a:off x="6912864" y="1188720"/>
            <a:ext cx="438912" cy="438912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6912864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424928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Agent Assignment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31152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Request randomly assigned to an active Agent for underwriting.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01168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74320" y="3081528"/>
            <a:ext cx="438912" cy="438912"/>
          </a:xfrm>
          <a:prstGeom prst="line">
            <a:avLst/>
          </a:prstGeom>
          <a:solidFill>
            <a:srgbClr val="5D3A8A"/>
          </a:solidFill>
          <a:ln w="12700">
            <a:solidFill>
              <a:srgbClr val="5D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74320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786384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Agent Reviews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92608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Agent views KYC docs via Vercel URLs, evaluates risk score.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414016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3"/>
          <p:cNvSpPr/>
          <p:nvPr/>
        </p:nvSpPr>
        <p:spPr>
          <a:xfrm>
            <a:off x="2487168" y="3081528"/>
            <a:ext cx="438912" cy="438912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2487168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2999232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Approve / Reject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505456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Agent approves or rejects. Customer is notified via SignalR.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626864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4700016" y="3081528"/>
            <a:ext cx="438912" cy="438912"/>
          </a:xfrm>
          <a:prstGeom prst="line">
            <a:avLst/>
          </a:prstGeom>
          <a:solidFill>
            <a:srgbClr val="2E0F4E"/>
          </a:solidFill>
          <a:ln w="12700">
            <a:solidFill>
              <a:srgbClr val="2E0F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4700016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5212080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Purchase Enabled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718304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Approved request unlocks Policy Purchase for the customer with a buy now button.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 flipH="1">
            <a:off x="0" y="3491634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4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Policy Purchase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Once request is approved, customer finalizes purchase triggering snapshot, schedules, and invoices.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10896" y="1243584"/>
            <a:ext cx="402336" cy="402336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3108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55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POST /policies/purchase/{requestId}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08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Customer calls purchase endpoint with approved request ID.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729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282696" y="1243584"/>
            <a:ext cx="402336" cy="402336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32826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7673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Plan Values Snapshotted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2826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PlanBasePremiumAmount &amp; PlanBaseCoverageAmount copied into Policy — future plan edits don't affect this contract.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447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6254496" y="1243584"/>
            <a:ext cx="402336" cy="402336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2544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391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Coverage Calculation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544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CoverageAmount = BaseCoverage × (chosenMonths / planDefaultMonths).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011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10896" y="3118104"/>
            <a:ext cx="402336" cy="402336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108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55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Payment Schedule Created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PolicyPayment entities spawned for full term (Monthly / Quarterly / Yearly intervals).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729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282696" y="3118104"/>
            <a:ext cx="402336" cy="402336"/>
          </a:xfrm>
          <a:prstGeom prst="line">
            <a:avLst/>
          </a:prstGeom>
          <a:solidFill>
            <a:srgbClr val="5D3A8A"/>
          </a:solidFill>
          <a:ln w="12700">
            <a:solidFill>
              <a:srgbClr val="5D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32826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37673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First Payment Auto-Paid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2826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First premium marked Paid instantly; funds registered in system.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2544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61447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38"/>
          <p:cNvSpPr/>
          <p:nvPr/>
        </p:nvSpPr>
        <p:spPr>
          <a:xfrm>
            <a:off x="6254496" y="3077807"/>
            <a:ext cx="438912" cy="438912"/>
          </a:xfrm>
          <a:prstGeom prst="line">
            <a:avLst/>
          </a:prstGeom>
          <a:solidFill>
            <a:srgbClr val="2E0F4E"/>
          </a:solidFill>
          <a:ln w="12700">
            <a:solidFill>
              <a:srgbClr val="2E0F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0"/>
          <p:cNvSpPr/>
          <p:nvPr/>
        </p:nvSpPr>
        <p:spPr>
          <a:xfrm>
            <a:off x="6739128" y="309999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Mail Triggered &amp; Invoice generated</a:t>
            </a:r>
            <a:endParaRPr lang="en-US" sz="1100" dirty="0"/>
          </a:p>
        </p:txBody>
      </p:sp>
      <p:sp>
        <p:nvSpPr>
          <p:cNvPr id="46" name="Text 41"/>
          <p:cNvSpPr/>
          <p:nvPr/>
        </p:nvSpPr>
        <p:spPr>
          <a:xfrm>
            <a:off x="6226615" y="3690455"/>
            <a:ext cx="241491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N8N triggers an email and invoice is generated using Quest PDF.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Claim Processing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Customer files claim → automated vetting → ClaimOfficer investigates → settlement or rejection.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10896" y="1243584"/>
            <a:ext cx="402336" cy="402336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3108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55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Customer Files Claim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08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Submits reason, evidence document, and requested ClaimAmount against an active policy.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729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282696" y="1243584"/>
            <a:ext cx="402336" cy="402336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32826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7673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Coverage Validation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2826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System verifies ClaimAmount ≤ Policy CoverageAmount. Rejects out-of-bounds claims automatically.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447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6254496" y="1243584"/>
            <a:ext cx="402336" cy="402336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2544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391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Claims Officer Assignment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544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ClaimOfficer with lowest pending queue is selected — ensures even workload distribution.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011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10896" y="3118104"/>
            <a:ext cx="402336" cy="402336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108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55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Officer Investigates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Video verifies the disaster, Reviews reason </a:t>
            </a:r>
            <a:r>
              <a:rPr lang="en-US" sz="1000" dirty="0">
                <a:solidFill>
                  <a:srgbClr val="5D4E75"/>
                </a:solidFill>
              </a:rPr>
              <a:t>and evidence document before deciding.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729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172968" y="2990088"/>
            <a:ext cx="2816352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6"/>
          <p:cNvSpPr/>
          <p:nvPr/>
        </p:nvSpPr>
        <p:spPr>
          <a:xfrm>
            <a:off x="3282696" y="3118104"/>
            <a:ext cx="402336" cy="402336"/>
          </a:xfrm>
          <a:prstGeom prst="lin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32826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7673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Approve → ClaimPayment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826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Officer sets ApprovedAmount. ClaimPayment recorded. Settlement Invoice generated by QuestPDF.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1447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6144768" y="2990088"/>
            <a:ext cx="2816352" cy="5486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2"/>
          <p:cNvSpPr/>
          <p:nvPr/>
        </p:nvSpPr>
        <p:spPr>
          <a:xfrm>
            <a:off x="6254496" y="3118104"/>
            <a:ext cx="402336" cy="402336"/>
          </a:xfrm>
          <a:prstGeom prst="lin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3"/>
          <p:cNvSpPr/>
          <p:nvPr/>
        </p:nvSpPr>
        <p:spPr>
          <a:xfrm>
            <a:off x="62544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391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Reject → Rejection Invoice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2544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State set to Rejected. Formal Rejection Invoice generated for legal consistency. Customer notified.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smtClean="0">
                <a:solidFill>
                  <a:srgbClr val="FFFFFF"/>
                </a:solidFill>
              </a:rPr>
              <a:t>Disaster </a:t>
            </a:r>
            <a:r>
              <a:rPr lang="en-US" sz="1000" dirty="0">
                <a:solidFill>
                  <a:srgbClr val="FFFFFF"/>
                </a:solidFill>
              </a:rPr>
              <a:t>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C21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line">
            <a:avLst/>
          </a:prstGeom>
          <a:solidFill>
            <a:srgbClr val="7B2FBE">
              <a:alpha val="30000"/>
            </a:srgbClr>
          </a:solidFill>
          <a:ln w="12700">
            <a:solidFill>
              <a:srgbClr val="7B2FB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837" y="610218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6728" y="237929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THANK YOU !!</a:t>
            </a:r>
            <a:endParaRPr lang="en-US" sz="5000" dirty="0"/>
          </a:p>
        </p:txBody>
      </p:sp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dirty="0">
                <a:solidFill>
                  <a:srgbClr val="A78CC0"/>
                </a:solidFill>
              </a:rPr>
              <a:t>.NET </a:t>
            </a:r>
            <a:r>
              <a:rPr lang="en-US" sz="1000" dirty="0" smtClean="0">
                <a:solidFill>
                  <a:srgbClr val="A78CC0"/>
                </a:solidFill>
              </a:rPr>
              <a:t>8  </a:t>
            </a:r>
            <a:r>
              <a:rPr lang="en-US" sz="1000" dirty="0">
                <a:solidFill>
                  <a:srgbClr val="A78CC0"/>
                </a:solidFill>
              </a:rPr>
              <a:t>•  Angular </a:t>
            </a:r>
            <a:r>
              <a:rPr lang="en-US" sz="1000" dirty="0" smtClean="0">
                <a:solidFill>
                  <a:srgbClr val="A78CC0"/>
                </a:solidFill>
              </a:rPr>
              <a:t>21  </a:t>
            </a:r>
            <a:r>
              <a:rPr lang="en-US" sz="1000" dirty="0">
                <a:solidFill>
                  <a:srgbClr val="A78CC0"/>
                </a:solidFill>
              </a:rPr>
              <a:t>•  SQL Server  •  QuestPDF  •  Vercel Blob  •  </a:t>
            </a:r>
            <a:r>
              <a:rPr lang="en-US" sz="1000" dirty="0" smtClean="0">
                <a:solidFill>
                  <a:srgbClr val="A78CC0"/>
                </a:solidFill>
              </a:rPr>
              <a:t>Ambee API </a:t>
            </a:r>
            <a:r>
              <a:rPr lang="en-US" sz="1000" dirty="0" smtClean="0">
                <a:solidFill>
                  <a:srgbClr val="A78CC0"/>
                </a:solidFill>
              </a:rPr>
              <a:t> </a:t>
            </a:r>
            <a:r>
              <a:rPr lang="en-US" sz="1000" dirty="0">
                <a:solidFill>
                  <a:srgbClr val="A78CC0"/>
                </a:solidFill>
              </a:rPr>
              <a:t>•  </a:t>
            </a:r>
            <a:r>
              <a:rPr lang="en-US" sz="1000" dirty="0" smtClean="0">
                <a:solidFill>
                  <a:srgbClr val="A78CC0"/>
                </a:solidFill>
              </a:rPr>
              <a:t>Vertex Ai</a:t>
            </a:r>
            <a:r>
              <a:rPr lang="en-US" sz="1000" dirty="0" smtClean="0">
                <a:solidFill>
                  <a:srgbClr val="A78CC0"/>
                </a:solidFill>
              </a:rPr>
              <a:t>   </a:t>
            </a:r>
            <a:r>
              <a:rPr lang="en-US" sz="1000" dirty="0">
                <a:solidFill>
                  <a:srgbClr val="A78CC0"/>
                </a:solidFill>
              </a:rPr>
              <a:t>• </a:t>
            </a:r>
            <a:r>
              <a:rPr lang="en-US" sz="1000" dirty="0" smtClean="0">
                <a:solidFill>
                  <a:srgbClr val="A78CC0"/>
                </a:solidFill>
              </a:rPr>
              <a:t>N8N  •  Agora SDK  </a:t>
            </a:r>
            <a:endParaRPr lang="en-US" sz="1000" dirty="0"/>
          </a:p>
        </p:txBody>
      </p:sp>
      <p:sp>
        <p:nvSpPr>
          <p:cNvPr id="2" name="Rectangle 1"/>
          <p:cNvSpPr/>
          <p:nvPr/>
        </p:nvSpPr>
        <p:spPr>
          <a:xfrm>
            <a:off x="547475" y="3240421"/>
            <a:ext cx="804905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would like to express </a:t>
            </a:r>
            <a:r>
              <a:rPr lang="en-US" dirty="0" smtClean="0">
                <a:solidFill>
                  <a:schemeClr val="bg1"/>
                </a:solidFill>
              </a:rPr>
              <a:t>my sincere </a:t>
            </a:r>
            <a:r>
              <a:rPr lang="en-US" dirty="0">
                <a:solidFill>
                  <a:schemeClr val="bg1"/>
                </a:solidFill>
              </a:rPr>
              <a:t>gratitude to </a:t>
            </a:r>
            <a:r>
              <a:rPr lang="en-US" b="1" dirty="0" smtClean="0">
                <a:solidFill>
                  <a:schemeClr val="bg1"/>
                </a:solidFill>
              </a:rPr>
              <a:t>The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b="1" dirty="0" smtClean="0">
                <a:solidFill>
                  <a:schemeClr val="bg1"/>
                </a:solidFill>
              </a:rPr>
              <a:t>Hartford </a:t>
            </a:r>
            <a:r>
              <a:rPr lang="en-US" b="1" dirty="0" smtClean="0">
                <a:solidFill>
                  <a:schemeClr val="bg1"/>
                </a:solidFill>
              </a:rPr>
              <a:t>India </a:t>
            </a:r>
            <a:r>
              <a:rPr lang="en-US" dirty="0" smtClean="0">
                <a:solidFill>
                  <a:schemeClr val="bg1"/>
                </a:solidFill>
              </a:rPr>
              <a:t>for </a:t>
            </a:r>
            <a:r>
              <a:rPr lang="en-US" dirty="0">
                <a:solidFill>
                  <a:schemeClr val="bg1"/>
                </a:solidFill>
              </a:rPr>
              <a:t>their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valuable </a:t>
            </a:r>
            <a:r>
              <a:rPr lang="en-US" dirty="0">
                <a:solidFill>
                  <a:schemeClr val="bg1"/>
                </a:solidFill>
              </a:rPr>
              <a:t>support, guidance, and encouragement </a:t>
            </a:r>
            <a:r>
              <a:rPr lang="en-US" dirty="0" smtClean="0">
                <a:solidFill>
                  <a:schemeClr val="bg1"/>
                </a:solidFill>
              </a:rPr>
              <a:t>throughout </a:t>
            </a:r>
            <a:r>
              <a:rPr lang="en-US" dirty="0" smtClean="0">
                <a:solidFill>
                  <a:schemeClr val="bg1"/>
                </a:solidFill>
              </a:rPr>
              <a:t>the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training </a:t>
            </a:r>
            <a:r>
              <a:rPr lang="en-US" dirty="0" smtClean="0">
                <a:solidFill>
                  <a:schemeClr val="bg1"/>
                </a:solidFill>
              </a:rPr>
              <a:t>and development of </a:t>
            </a:r>
            <a:r>
              <a:rPr lang="en-US" dirty="0">
                <a:solidFill>
                  <a:schemeClr val="bg1"/>
                </a:solidFill>
              </a:rPr>
              <a:t>this project. Their insights and resources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greatly contributed </a:t>
            </a:r>
            <a:r>
              <a:rPr lang="en-US" dirty="0">
                <a:solidFill>
                  <a:schemeClr val="bg1"/>
                </a:solidFill>
              </a:rPr>
              <a:t>to the successful completion of </a:t>
            </a:r>
            <a:r>
              <a:rPr lang="en-US" dirty="0" smtClean="0">
                <a:solidFill>
                  <a:schemeClr val="bg1"/>
                </a:solidFill>
              </a:rPr>
              <a:t>my work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972</Words>
  <Application>Microsoft Office PowerPoint</Application>
  <PresentationFormat>On-screen Show (16:9)</PresentationFormat>
  <Paragraphs>193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Casualty &amp; Disaster Insurance Platform</dc:title>
  <dc:subject>PptxGenJS Presentation</dc:subject>
  <dc:creator>PptxGenJS</dc:creator>
  <cp:lastModifiedBy>DELL</cp:lastModifiedBy>
  <cp:revision>64</cp:revision>
  <dcterms:created xsi:type="dcterms:W3CDTF">2026-03-05T01:48:27Z</dcterms:created>
  <dcterms:modified xsi:type="dcterms:W3CDTF">2026-03-28T09:38:24Z</dcterms:modified>
</cp:coreProperties>
</file>